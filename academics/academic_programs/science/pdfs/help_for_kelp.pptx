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8.xml" ContentType="application/vnd.openxmlformats-officedocument.presentationml.comments+xml"/>
  <Override PartName="/ppt/comments/comment9.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3" r:id="rId5"/>
    <p:sldId id="297" r:id="rId6"/>
    <p:sldId id="299" r:id="rId7"/>
    <p:sldId id="298" r:id="rId8"/>
    <p:sldId id="300" r:id="rId9"/>
    <p:sldId id="296" r:id="rId10"/>
    <p:sldId id="302" r:id="rId11"/>
    <p:sldId id="303" r:id="rId12"/>
    <p:sldId id="304" r:id="rId13"/>
    <p:sldId id="305" r:id="rId14"/>
    <p:sldId id="306" r:id="rId15"/>
    <p:sldId id="307" r:id="rId16"/>
    <p:sldId id="308" r:id="rId17"/>
    <p:sldId id="309" r:id="rId18"/>
    <p:sldId id="312" r:id="rId19"/>
    <p:sldId id="310" r:id="rId20"/>
    <p:sldId id="311" r:id="rId21"/>
    <p:sldId id="313" r:id="rId22"/>
    <p:sldId id="31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ncent Moreno" initials="VM" lastIdx="12" clrIdx="0">
    <p:extLst>
      <p:ext uri="{19B8F6BF-5375-455C-9EA6-DF929625EA0E}">
        <p15:presenceInfo xmlns:p15="http://schemas.microsoft.com/office/powerpoint/2012/main" userId="19a08ec32ef6a6f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64" d="100"/>
          <a:sy n="64" d="100"/>
        </p:scale>
        <p:origin x="48"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6-21T23:28:21.137" idx="1">
    <p:pos x="10" y="-9"/>
    <p:text>Keep the Mood light and maybe crack a joke as you start so that the audience will have a good impression or feel more comftorable as you start.</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6-21T23:30:11.325" idx="2">
    <p:pos x="7079" y="2445"/>
    <p:text>Tease about Protists being something not everyone is aware of , give some light information about it here since there will be another slide covering it.</p:text>
    <p:extLst>
      <p:ext uri="{C676402C-5697-4E1C-873F-D02D1690AC5C}">
        <p15:threadingInfo xmlns:p15="http://schemas.microsoft.com/office/powerpoint/2012/main" timeZoneBias="420"/>
      </p:ext>
    </p:extLst>
  </p:cm>
  <p:cm authorId="1" dt="2021-06-21T23:31:21.995" idx="3">
    <p:pos x="7168" y="2930"/>
    <p:text>Pneuma-ato-cysts , careful not to trip to hard on the latine names just say them slowly and concisely.</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6-21T23:33:06.204" idx="4">
    <p:pos x="7097" y="1826"/>
    <p:text>Sprinkle in more knowledge about protests but dont overwhelm the audience since it isn't time yet.</p:text>
    <p:extLst>
      <p:ext uri="{C676402C-5697-4E1C-873F-D02D1690AC5C}">
        <p15:threadingInfo xmlns:p15="http://schemas.microsoft.com/office/powerpoint/2012/main" timeZoneBias="420"/>
      </p:ext>
    </p:extLst>
  </p:cm>
  <p:cm authorId="1" dt="2021-06-21T23:34:19.624" idx="5">
    <p:pos x="3961" y="2508"/>
    <p:text>use the mouse or pointer to show the stipes point of contact as you mention it and make comparisons</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1-06-21T23:36:42.353" idx="6">
    <p:pos x="3453" y="3072"/>
    <p:text>Maybe list more products made from Algin but don't go over the top since there are lists later and its best not to repeat yourself to often.</p:text>
    <p:extLst>
      <p:ext uri="{C676402C-5697-4E1C-873F-D02D1690AC5C}">
        <p15:threadingInfo xmlns:p15="http://schemas.microsoft.com/office/powerpoint/2012/main" timeZoneBias="4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1-06-21T23:38:12.091" idx="7">
    <p:pos x="2558" y="536"/>
    <p:text>This slide only covers the Sexual Reproduction since Asexual reproduction is more of a cloning process and is something you can mention off-hand to support Indepent knowledge on the subject.</p:text>
    <p:extLst>
      <p:ext uri="{C676402C-5697-4E1C-873F-D02D1690AC5C}">
        <p15:threadingInfo xmlns:p15="http://schemas.microsoft.com/office/powerpoint/2012/main" timeZoneBias="4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1-06-21T23:40:13.546" idx="8">
    <p:pos x="2383" y="599"/>
    <p:text>Remind the audience that unlike relations with plants being eaten this is still a Multi-Celled Protist that just happens to use photosynthesis</p:text>
    <p:extLst>
      <p:ext uri="{C676402C-5697-4E1C-873F-D02D1690AC5C}">
        <p15:threadingInfo xmlns:p15="http://schemas.microsoft.com/office/powerpoint/2012/main" timeZoneBias="42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1-06-21T23:42:13.240" idx="9">
    <p:pos x="3723" y="1319"/>
    <p:text/>
    <p:extLst>
      <p:ext uri="{C676402C-5697-4E1C-873F-D02D1690AC5C}">
        <p15:threadingInfo xmlns:p15="http://schemas.microsoft.com/office/powerpoint/2012/main" timeZoneBias="420"/>
      </p:ext>
    </p:extLst>
  </p:cm>
  <p:cm authorId="1" dt="2021-06-21T23:43:03.657" idx="10">
    <p:pos x="3723" y="1415"/>
    <p:text>keep the audience invested by staying excited, you don't want to start listing dates and numbers like an accountant.</p:text>
    <p:extLst>
      <p:ext uri="{C676402C-5697-4E1C-873F-D02D1690AC5C}">
        <p15:threadingInfo xmlns:p15="http://schemas.microsoft.com/office/powerpoint/2012/main" timeZoneBias="420">
          <p15:parentCm authorId="1" idx="9"/>
        </p15:threadingInfo>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1-06-21T23:43:35.673" idx="11">
    <p:pos x="361" y="1012"/>
    <p:text>take a moment to establish a serious tone but formal as if you lost a loved one. Sell the seriousness of truth.</p:text>
    <p:extLst>
      <p:ext uri="{C676402C-5697-4E1C-873F-D02D1690AC5C}">
        <p15:threadingInfo xmlns:p15="http://schemas.microsoft.com/office/powerpoint/2012/main" timeZoneBias="42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1-06-21T23:44:43.574" idx="12">
    <p:pos x="2339" y="674"/>
    <p:text>Stress the need to have volunteers and maybe add some stories you might have before ending the presentation in a kind and appreciative manner</p:text>
    <p:extLst>
      <p:ext uri="{C676402C-5697-4E1C-873F-D02D1690AC5C}">
        <p15:threadingInfo xmlns:p15="http://schemas.microsoft.com/office/powerpoint/2012/main" timeZoneBias="42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FF1BC8-9F38-456D-8118-5C431F0B677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3C3645C-E157-4C00-9044-2F745D919428}">
      <dgm:prSet/>
      <dgm:spPr/>
      <dgm:t>
        <a:bodyPr/>
        <a:lstStyle/>
        <a:p>
          <a:r>
            <a:rPr lang="en-US"/>
            <a:t>Non-point and point source pollution including sewage, industrial disposal, and coastal runoff might contribute to kelp forest degradation. For instance, high sedimentation from coastal run-off may bury new plant shoots.</a:t>
          </a:r>
        </a:p>
      </dgm:t>
    </dgm:pt>
    <dgm:pt modelId="{93C8ED90-754C-4D1A-BB00-4977D4300B15}" type="parTrans" cxnId="{07834BD0-9B56-49B8-A645-0BE3FBE6DC7F}">
      <dgm:prSet/>
      <dgm:spPr/>
      <dgm:t>
        <a:bodyPr/>
        <a:lstStyle/>
        <a:p>
          <a:endParaRPr lang="en-US"/>
        </a:p>
      </dgm:t>
    </dgm:pt>
    <dgm:pt modelId="{D04D9703-B400-45E1-999C-CC1E2423C6DB}" type="sibTrans" cxnId="{07834BD0-9B56-49B8-A645-0BE3FBE6DC7F}">
      <dgm:prSet/>
      <dgm:spPr/>
      <dgm:t>
        <a:bodyPr/>
        <a:lstStyle/>
        <a:p>
          <a:endParaRPr lang="en-US"/>
        </a:p>
      </dgm:t>
    </dgm:pt>
    <dgm:pt modelId="{098EE399-62B2-49BF-9D3F-7B7CD5C2B66E}">
      <dgm:prSet/>
      <dgm:spPr/>
      <dgm:t>
        <a:bodyPr/>
        <a:lstStyle/>
        <a:p>
          <a:r>
            <a:rPr lang="en-US"/>
            <a:t>Similarly, kelp may experience reduced growth rates and reproductive success in more toxic waters and sediments. Studies on microscopic stages of kelp suggest that kelp is sensitive to sewage, industrial waste discharges, and other causes of poor water and sediment quality.</a:t>
          </a:r>
        </a:p>
      </dgm:t>
    </dgm:pt>
    <dgm:pt modelId="{44C582C8-6A83-433E-9421-2A4B637F5AB5}" type="parTrans" cxnId="{4D908B83-F982-4C2B-8E11-771FC3CC72BA}">
      <dgm:prSet/>
      <dgm:spPr/>
      <dgm:t>
        <a:bodyPr/>
        <a:lstStyle/>
        <a:p>
          <a:endParaRPr lang="en-US"/>
        </a:p>
      </dgm:t>
    </dgm:pt>
    <dgm:pt modelId="{4C8BCEE3-91E7-43BE-AE0D-98553485CBEC}" type="sibTrans" cxnId="{4D908B83-F982-4C2B-8E11-771FC3CC72BA}">
      <dgm:prSet/>
      <dgm:spPr/>
      <dgm:t>
        <a:bodyPr/>
        <a:lstStyle/>
        <a:p>
          <a:endParaRPr lang="en-US"/>
        </a:p>
      </dgm:t>
    </dgm:pt>
    <dgm:pt modelId="{9A915280-EE6D-434E-BB92-EF82D7081ECE}" type="pres">
      <dgm:prSet presAssocID="{D5FF1BC8-9F38-456D-8118-5C431F0B6776}" presName="linear" presStyleCnt="0">
        <dgm:presLayoutVars>
          <dgm:animLvl val="lvl"/>
          <dgm:resizeHandles val="exact"/>
        </dgm:presLayoutVars>
      </dgm:prSet>
      <dgm:spPr/>
    </dgm:pt>
    <dgm:pt modelId="{6E9CF79E-843A-478D-9A12-0F4CE045BA46}" type="pres">
      <dgm:prSet presAssocID="{83C3645C-E157-4C00-9044-2F745D919428}" presName="parentText" presStyleLbl="node1" presStyleIdx="0" presStyleCnt="2">
        <dgm:presLayoutVars>
          <dgm:chMax val="0"/>
          <dgm:bulletEnabled val="1"/>
        </dgm:presLayoutVars>
      </dgm:prSet>
      <dgm:spPr/>
    </dgm:pt>
    <dgm:pt modelId="{17B821FD-ABD7-4B9A-925D-26C6F5CC668C}" type="pres">
      <dgm:prSet presAssocID="{D04D9703-B400-45E1-999C-CC1E2423C6DB}" presName="spacer" presStyleCnt="0"/>
      <dgm:spPr/>
    </dgm:pt>
    <dgm:pt modelId="{FA41FEE8-C565-4E9E-BE5D-9E3B2D374558}" type="pres">
      <dgm:prSet presAssocID="{098EE399-62B2-49BF-9D3F-7B7CD5C2B66E}" presName="parentText" presStyleLbl="node1" presStyleIdx="1" presStyleCnt="2">
        <dgm:presLayoutVars>
          <dgm:chMax val="0"/>
          <dgm:bulletEnabled val="1"/>
        </dgm:presLayoutVars>
      </dgm:prSet>
      <dgm:spPr/>
    </dgm:pt>
  </dgm:ptLst>
  <dgm:cxnLst>
    <dgm:cxn modelId="{446E4E03-69F2-467B-B79B-7792DD1F0003}" type="presOf" srcId="{83C3645C-E157-4C00-9044-2F745D919428}" destId="{6E9CF79E-843A-478D-9A12-0F4CE045BA46}" srcOrd="0" destOrd="0" presId="urn:microsoft.com/office/officeart/2005/8/layout/vList2"/>
    <dgm:cxn modelId="{5633923C-404F-42A9-8033-86A6DB44946E}" type="presOf" srcId="{098EE399-62B2-49BF-9D3F-7B7CD5C2B66E}" destId="{FA41FEE8-C565-4E9E-BE5D-9E3B2D374558}" srcOrd="0" destOrd="0" presId="urn:microsoft.com/office/officeart/2005/8/layout/vList2"/>
    <dgm:cxn modelId="{4D908B83-F982-4C2B-8E11-771FC3CC72BA}" srcId="{D5FF1BC8-9F38-456D-8118-5C431F0B6776}" destId="{098EE399-62B2-49BF-9D3F-7B7CD5C2B66E}" srcOrd="1" destOrd="0" parTransId="{44C582C8-6A83-433E-9421-2A4B637F5AB5}" sibTransId="{4C8BCEE3-91E7-43BE-AE0D-98553485CBEC}"/>
    <dgm:cxn modelId="{ABFFC18B-A21B-48FE-AA95-9EA3F469C864}" type="presOf" srcId="{D5FF1BC8-9F38-456D-8118-5C431F0B6776}" destId="{9A915280-EE6D-434E-BB92-EF82D7081ECE}" srcOrd="0" destOrd="0" presId="urn:microsoft.com/office/officeart/2005/8/layout/vList2"/>
    <dgm:cxn modelId="{07834BD0-9B56-49B8-A645-0BE3FBE6DC7F}" srcId="{D5FF1BC8-9F38-456D-8118-5C431F0B6776}" destId="{83C3645C-E157-4C00-9044-2F745D919428}" srcOrd="0" destOrd="0" parTransId="{93C8ED90-754C-4D1A-BB00-4977D4300B15}" sibTransId="{D04D9703-B400-45E1-999C-CC1E2423C6DB}"/>
    <dgm:cxn modelId="{F3B9ADAF-0EE5-48BD-9FE2-413E4305ACC2}" type="presParOf" srcId="{9A915280-EE6D-434E-BB92-EF82D7081ECE}" destId="{6E9CF79E-843A-478D-9A12-0F4CE045BA46}" srcOrd="0" destOrd="0" presId="urn:microsoft.com/office/officeart/2005/8/layout/vList2"/>
    <dgm:cxn modelId="{8991454C-3BF7-43A0-97D6-5F3A61056DE2}" type="presParOf" srcId="{9A915280-EE6D-434E-BB92-EF82D7081ECE}" destId="{17B821FD-ABD7-4B9A-925D-26C6F5CC668C}" srcOrd="1" destOrd="0" presId="urn:microsoft.com/office/officeart/2005/8/layout/vList2"/>
    <dgm:cxn modelId="{A2F00FF4-3AF6-40EA-B555-8672251EBC9D}" type="presParOf" srcId="{9A915280-EE6D-434E-BB92-EF82D7081ECE}" destId="{FA41FEE8-C565-4E9E-BE5D-9E3B2D37455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CF79E-843A-478D-9A12-0F4CE045BA46}">
      <dsp:nvSpPr>
        <dsp:cNvPr id="0" name=""/>
        <dsp:cNvSpPr/>
      </dsp:nvSpPr>
      <dsp:spPr>
        <a:xfrm>
          <a:off x="0" y="206459"/>
          <a:ext cx="4663440" cy="1645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Non-point and point source pollution including sewage, industrial disposal, and coastal runoff might contribute to kelp forest degradation. For instance, high sedimentation from coastal run-off may bury new plant shoots.</a:t>
          </a:r>
        </a:p>
      </dsp:txBody>
      <dsp:txXfrm>
        <a:off x="80303" y="286762"/>
        <a:ext cx="4502834" cy="1484414"/>
      </dsp:txXfrm>
    </dsp:sp>
    <dsp:sp modelId="{FA41FEE8-C565-4E9E-BE5D-9E3B2D374558}">
      <dsp:nvSpPr>
        <dsp:cNvPr id="0" name=""/>
        <dsp:cNvSpPr/>
      </dsp:nvSpPr>
      <dsp:spPr>
        <a:xfrm>
          <a:off x="0" y="1897560"/>
          <a:ext cx="4663440" cy="1645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Similarly, kelp may experience reduced growth rates and reproductive success in more toxic waters and sediments. Studies on microscopic stages of kelp suggest that kelp is sensitive to sewage, industrial waste discharges, and other causes of poor water and sediment quality.</a:t>
          </a:r>
        </a:p>
      </dsp:txBody>
      <dsp:txXfrm>
        <a:off x="80303" y="1977863"/>
        <a:ext cx="4502834" cy="14844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6/21/2021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71344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6/21/2021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8040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6/21/2021</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5796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6/21/2021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819987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6/21/2021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37686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6/21/2021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196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6/21/2021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97824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6/21/2021</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6886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6/21/2021</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91304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6/21/2021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203008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6/21/2021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99999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6/21/2021</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13215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6" name="Rectangle 95">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9F73848-91FE-4D29-B0DC-BFC408416682}"/>
              </a:ext>
              <a:ext uri="{C183D7F6-B498-43B3-948B-1728B52AA6E4}">
                <adec:decorative xmlns:adec="http://schemas.microsoft.com/office/drawing/2017/decorative" val="1"/>
              </a:ext>
            </a:extLst>
          </p:cNvPr>
          <p:cNvPicPr>
            <a:picLocks noChangeAspect="1"/>
          </p:cNvPicPr>
          <p:nvPr/>
        </p:nvPicPr>
        <p:blipFill rotWithShape="1">
          <a:blip r:embed="rId3">
            <a:alphaModFix amt="45000"/>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98" name="Rectangle 97">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69532" y="2091263"/>
            <a:ext cx="8652938" cy="2461504"/>
          </a:xfrm>
        </p:spPr>
        <p:txBody>
          <a:bodyPr>
            <a:normAutofit/>
          </a:bodyPr>
          <a:lstStyle/>
          <a:p>
            <a:r>
              <a:rPr lang="en-US" sz="5800"/>
              <a:t>COASTAL KELP FOREST AND ENVIRONMENT</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769532" y="4623127"/>
            <a:ext cx="8655200" cy="457201"/>
          </a:xfrm>
        </p:spPr>
        <p:txBody>
          <a:bodyPr>
            <a:normAutofit/>
          </a:bodyPr>
          <a:lstStyle/>
          <a:p>
            <a:pPr>
              <a:spcAft>
                <a:spcPts val="600"/>
              </a:spcAft>
            </a:pPr>
            <a:r>
              <a:rPr lang="en-US" dirty="0">
                <a:solidFill>
                  <a:schemeClr val="tx1"/>
                </a:solidFill>
              </a:rPr>
              <a:t>By </a:t>
            </a:r>
            <a:r>
              <a:rPr lang="en-US">
                <a:solidFill>
                  <a:schemeClr val="tx1"/>
                </a:solidFill>
              </a:rPr>
              <a:t>Andy Monteon</a:t>
            </a:r>
            <a:endParaRPr lang="en-US" dirty="0">
              <a:solidFill>
                <a:schemeClr val="tx1"/>
              </a:solidFill>
            </a:endParaRPr>
          </a:p>
        </p:txBody>
      </p:sp>
      <p:sp>
        <p:nvSpPr>
          <p:cNvPr id="100" name="Rectangle 99">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sp>
    </p:spTree>
    <p:extLst>
      <p:ext uri="{BB962C8B-B14F-4D97-AF65-F5344CB8AC3E}">
        <p14:creationId xmlns:p14="http://schemas.microsoft.com/office/powerpoint/2010/main" val="42696815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75" name="Rectangle 74">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77" name="Rectangle 76">
            <a:extLst>
              <a:ext uri="{FF2B5EF4-FFF2-40B4-BE49-F238E27FC236}">
                <a16:creationId xmlns:a16="http://schemas.microsoft.com/office/drawing/2014/main" id="{B6EE7E08-B389-43E5-B019-1B0A8ACBB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57D2D53C-6743-48FE-84C3-D2A29A2938F1}"/>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l="7865" r="22224"/>
          <a:stretch/>
        </p:blipFill>
        <p:spPr bwMode="auto">
          <a:xfrm>
            <a:off x="20" y="10"/>
            <a:ext cx="6392647" cy="6857990"/>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E60D94A5-8A09-4BAB-8F7C-69BC34C54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7A1AE32B-3A6E-4C5E-8FEB-73861B9A2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3446379-4AF7-41C9-81E5-BD314D8AB1A6}"/>
              </a:ext>
            </a:extLst>
          </p:cNvPr>
          <p:cNvSpPr>
            <a:spLocks noGrp="1"/>
          </p:cNvSpPr>
          <p:nvPr>
            <p:ph type="title"/>
          </p:nvPr>
        </p:nvSpPr>
        <p:spPr>
          <a:xfrm>
            <a:off x="7064082" y="642594"/>
            <a:ext cx="4472921" cy="1371600"/>
          </a:xfrm>
        </p:spPr>
        <p:txBody>
          <a:bodyPr vert="horz" lIns="91440" tIns="45720" rIns="91440" bIns="45720" rtlCol="0" anchor="ctr">
            <a:normAutofit/>
          </a:bodyPr>
          <a:lstStyle/>
          <a:p>
            <a:pPr>
              <a:lnSpc>
                <a:spcPct val="90000"/>
              </a:lnSpc>
            </a:pPr>
            <a:r>
              <a:rPr lang="en-US" sz="3700">
                <a:solidFill>
                  <a:schemeClr val="tx1">
                    <a:lumMod val="85000"/>
                    <a:lumOff val="15000"/>
                  </a:schemeClr>
                </a:solidFill>
              </a:rPr>
              <a:t>Giant Kelp</a:t>
            </a:r>
            <a:br>
              <a:rPr lang="en-US" sz="3700">
                <a:solidFill>
                  <a:schemeClr val="tx1">
                    <a:lumMod val="85000"/>
                    <a:lumOff val="15000"/>
                  </a:schemeClr>
                </a:solidFill>
              </a:rPr>
            </a:br>
            <a:r>
              <a:rPr lang="en-US" sz="3700" u="sng">
                <a:solidFill>
                  <a:schemeClr val="tx1">
                    <a:lumMod val="85000"/>
                    <a:lumOff val="15000"/>
                  </a:schemeClr>
                </a:solidFill>
              </a:rPr>
              <a:t>Macrocystis Pyrifera</a:t>
            </a:r>
            <a:endParaRPr lang="en-US" sz="3700">
              <a:solidFill>
                <a:schemeClr val="tx1">
                  <a:lumMod val="85000"/>
                  <a:lumOff val="15000"/>
                </a:schemeClr>
              </a:solidFill>
            </a:endParaRPr>
          </a:p>
        </p:txBody>
      </p:sp>
      <p:sp>
        <p:nvSpPr>
          <p:cNvPr id="4" name="Text Placeholder 3">
            <a:extLst>
              <a:ext uri="{FF2B5EF4-FFF2-40B4-BE49-F238E27FC236}">
                <a16:creationId xmlns:a16="http://schemas.microsoft.com/office/drawing/2014/main" id="{23DCB370-A63F-492B-891D-4431044A5E67}"/>
              </a:ext>
            </a:extLst>
          </p:cNvPr>
          <p:cNvSpPr>
            <a:spLocks noGrp="1"/>
          </p:cNvSpPr>
          <p:nvPr>
            <p:ph type="body" sz="half" idx="2"/>
          </p:nvPr>
        </p:nvSpPr>
        <p:spPr>
          <a:xfrm>
            <a:off x="7064082" y="2103120"/>
            <a:ext cx="4472922" cy="3931920"/>
          </a:xfrm>
        </p:spPr>
        <p:txBody>
          <a:bodyPr vert="horz" lIns="91440" tIns="45720" rIns="91440" bIns="45720" rtlCol="0">
            <a:normAutofit/>
          </a:bodyPr>
          <a:lstStyle/>
          <a:p>
            <a:pPr marL="285750" indent="-182880">
              <a:lnSpc>
                <a:spcPct val="100000"/>
              </a:lnSpc>
              <a:buFont typeface="Garamond" pitchFamily="18" charset="0"/>
              <a:buChar char="◦"/>
            </a:pPr>
            <a:r>
              <a:rPr lang="en-US" dirty="0"/>
              <a:t>Class: Phaeophycean (Brown Algae)</a:t>
            </a:r>
          </a:p>
          <a:p>
            <a:pPr marL="285750" indent="-182880">
              <a:lnSpc>
                <a:spcPct val="100000"/>
              </a:lnSpc>
              <a:buFont typeface="Garamond" pitchFamily="18" charset="0"/>
              <a:buChar char="◦"/>
            </a:pPr>
            <a:r>
              <a:rPr lang="en-US" dirty="0"/>
              <a:t>Family: </a:t>
            </a:r>
            <a:r>
              <a:rPr lang="en-US" dirty="0" err="1"/>
              <a:t>Laminariaceae</a:t>
            </a:r>
            <a:r>
              <a:rPr lang="en-US" dirty="0"/>
              <a:t> (Kelps and Relatives)</a:t>
            </a:r>
          </a:p>
          <a:p>
            <a:pPr indent="-182880">
              <a:lnSpc>
                <a:spcPct val="100000"/>
              </a:lnSpc>
              <a:buFont typeface="Garamond" pitchFamily="18" charset="0"/>
              <a:buChar char="◦"/>
            </a:pPr>
            <a:endParaRPr lang="en-US" dirty="0"/>
          </a:p>
          <a:p>
            <a:pPr marL="285750" indent="-182880">
              <a:lnSpc>
                <a:spcPct val="100000"/>
              </a:lnSpc>
              <a:buFont typeface="Garamond" pitchFamily="18" charset="0"/>
              <a:buChar char="◦"/>
            </a:pPr>
            <a:r>
              <a:rPr lang="en-US" dirty="0"/>
              <a:t>Fun Fact!! Not a plant but actually the Largest Protist in the world!! And a very complex species!</a:t>
            </a:r>
          </a:p>
          <a:p>
            <a:pPr marL="285750" indent="-182880">
              <a:lnSpc>
                <a:spcPct val="100000"/>
              </a:lnSpc>
              <a:buFont typeface="Garamond" pitchFamily="18" charset="0"/>
              <a:buChar char="◦"/>
            </a:pPr>
            <a:r>
              <a:rPr lang="en-US" dirty="0"/>
              <a:t>Giant kelp grows gas bladders that are known as </a:t>
            </a:r>
            <a:r>
              <a:rPr lang="en-US" dirty="0" err="1"/>
              <a:t>pneumatocysts</a:t>
            </a:r>
            <a:r>
              <a:rPr lang="en-US" dirty="0"/>
              <a:t>.(Shown Here) These bladders keep the kelp from falling to the bottom of the ocean where it would ultimately die. </a:t>
            </a:r>
          </a:p>
        </p:txBody>
      </p:sp>
    </p:spTree>
    <p:extLst>
      <p:ext uri="{BB962C8B-B14F-4D97-AF65-F5344CB8AC3E}">
        <p14:creationId xmlns:p14="http://schemas.microsoft.com/office/powerpoint/2010/main" val="59368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33">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35">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48" name="Rectangle 37">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3" name="Title 2">
            <a:extLst>
              <a:ext uri="{FF2B5EF4-FFF2-40B4-BE49-F238E27FC236}">
                <a16:creationId xmlns:a16="http://schemas.microsoft.com/office/drawing/2014/main" id="{EE98711E-2339-49A9-8399-04E97EA7F503}"/>
              </a:ext>
            </a:extLst>
          </p:cNvPr>
          <p:cNvSpPr>
            <a:spLocks noGrp="1"/>
          </p:cNvSpPr>
          <p:nvPr>
            <p:ph type="title"/>
          </p:nvPr>
        </p:nvSpPr>
        <p:spPr>
          <a:xfrm>
            <a:off x="6579450" y="727627"/>
            <a:ext cx="4957553" cy="1645920"/>
          </a:xfrm>
        </p:spPr>
        <p:txBody>
          <a:bodyPr vert="horz" lIns="91440" tIns="45720" rIns="91440" bIns="45720" rtlCol="0" anchor="ctr">
            <a:normAutofit/>
          </a:bodyPr>
          <a:lstStyle/>
          <a:p>
            <a:pPr algn="ctr">
              <a:lnSpc>
                <a:spcPct val="90000"/>
              </a:lnSpc>
            </a:pPr>
            <a:r>
              <a:rPr lang="en-US" sz="4800" dirty="0">
                <a:solidFill>
                  <a:schemeClr val="tx1">
                    <a:lumMod val="85000"/>
                    <a:lumOff val="15000"/>
                  </a:schemeClr>
                </a:solidFill>
              </a:rPr>
              <a:t>Structure</a:t>
            </a:r>
          </a:p>
        </p:txBody>
      </p:sp>
      <p:sp>
        <p:nvSpPr>
          <p:cNvPr id="49" name="Rectangle 3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50" name="Rectangle 4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29" name="Picture 2" descr="Picture">
            <a:extLst>
              <a:ext uri="{FF2B5EF4-FFF2-40B4-BE49-F238E27FC236}">
                <a16:creationId xmlns:a16="http://schemas.microsoft.com/office/drawing/2014/main" id="{CCBAF7A1-344B-461C-95F1-0EFAA62A93C7}"/>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2781" b="2781"/>
          <a:stretch>
            <a:fillRect/>
          </a:stretch>
        </p:blipFill>
        <p:spPr bwMode="auto">
          <a:xfrm>
            <a:off x="1091906" y="868695"/>
            <a:ext cx="4527788" cy="5097084"/>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8EE7B902-DD69-4710-97BD-5EE840C3DF09}"/>
              </a:ext>
            </a:extLst>
          </p:cNvPr>
          <p:cNvSpPr>
            <a:spLocks noGrp="1"/>
          </p:cNvSpPr>
          <p:nvPr>
            <p:ph type="body" sz="half" idx="2"/>
          </p:nvPr>
        </p:nvSpPr>
        <p:spPr>
          <a:xfrm>
            <a:off x="6579450" y="2538919"/>
            <a:ext cx="4957554" cy="3496120"/>
          </a:xfrm>
        </p:spPr>
        <p:txBody>
          <a:bodyPr vert="horz" lIns="91440" tIns="45720" rIns="91440" bIns="45720" rtlCol="0">
            <a:normAutofit fontScale="92500" lnSpcReduction="10000"/>
          </a:bodyPr>
          <a:lstStyle/>
          <a:p>
            <a:pPr marL="285750" indent="-182880">
              <a:lnSpc>
                <a:spcPct val="100000"/>
              </a:lnSpc>
              <a:buFont typeface="Garamond" pitchFamily="18" charset="0"/>
              <a:buChar char="◦"/>
            </a:pPr>
            <a:r>
              <a:rPr lang="en-US" b="0" i="0" dirty="0">
                <a:effectLst/>
              </a:rPr>
              <a:t>Kelp is not a plant, although it is photosynthetic with structures that look just like roots, stems, and leaves, it belongs to a separate kingdom known as protists. </a:t>
            </a:r>
          </a:p>
          <a:p>
            <a:pPr marL="285750" indent="-182880">
              <a:lnSpc>
                <a:spcPct val="100000"/>
              </a:lnSpc>
              <a:buFont typeface="Garamond" pitchFamily="18" charset="0"/>
              <a:buChar char="◦"/>
            </a:pPr>
            <a:r>
              <a:rPr lang="en-US" dirty="0"/>
              <a:t>All stipes do is connect the kelp to the holdfast keeping it from drifting away.</a:t>
            </a:r>
          </a:p>
          <a:p>
            <a:pPr marL="285750" indent="-182880">
              <a:lnSpc>
                <a:spcPct val="100000"/>
              </a:lnSpc>
              <a:buFont typeface="Garamond" pitchFamily="18" charset="0"/>
              <a:buChar char="◦"/>
            </a:pPr>
            <a:r>
              <a:rPr lang="en-US" b="0" i="0" dirty="0">
                <a:effectLst/>
              </a:rPr>
              <a:t> Holdfasts keep the kelp anchored to the rocks they grow on but do not move nutrients from the rocks to the rest of the protist. </a:t>
            </a:r>
          </a:p>
          <a:p>
            <a:pPr marL="285750" indent="-182880">
              <a:lnSpc>
                <a:spcPct val="100000"/>
              </a:lnSpc>
              <a:buFont typeface="Garamond" pitchFamily="18" charset="0"/>
              <a:buChar char="◦"/>
            </a:pPr>
            <a:r>
              <a:rPr lang="en-US" b="0" i="0" dirty="0">
                <a:effectLst/>
              </a:rPr>
              <a:t>As kelp grows, a blade at the tip of each frond separates, producing a series of tiny new blades</a:t>
            </a:r>
          </a:p>
        </p:txBody>
      </p:sp>
    </p:spTree>
    <p:extLst>
      <p:ext uri="{BB962C8B-B14F-4D97-AF65-F5344CB8AC3E}">
        <p14:creationId xmlns:p14="http://schemas.microsoft.com/office/powerpoint/2010/main" val="3030418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 name="Rectangle 42">
            <a:extLst>
              <a:ext uri="{FF2B5EF4-FFF2-40B4-BE49-F238E27FC236}">
                <a16:creationId xmlns:a16="http://schemas.microsoft.com/office/drawing/2014/main" id="{1419E3D9-C5FB-41A9-B6D2-DFB210BB6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45" name="Rectangle 44">
            <a:extLst>
              <a:ext uri="{FF2B5EF4-FFF2-40B4-BE49-F238E27FC236}">
                <a16:creationId xmlns:a16="http://schemas.microsoft.com/office/drawing/2014/main" id="{367909BF-1DF7-4ACE-8F58-6CF719BB2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47" name="Rectangle 46">
            <a:extLst>
              <a:ext uri="{FF2B5EF4-FFF2-40B4-BE49-F238E27FC236}">
                <a16:creationId xmlns:a16="http://schemas.microsoft.com/office/drawing/2014/main" id="{89E8BEDB-0BBC-4F21-9CFB-8530D664C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9" name="Group 48">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50" name="Straight Connector 49">
              <a:extLst>
                <a:ext uri="{FF2B5EF4-FFF2-40B4-BE49-F238E27FC236}">
                  <a16:creationId xmlns:a16="http://schemas.microsoft.com/office/drawing/2014/main" id="{51D6D676-6F2F-4446-9935-2D8D038214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9BAEA2B-9C25-4B43-8C9A-A9D0C3E9B15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1FC5F3A-7F1A-4EE8-A913-C8E96ACC3C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54" name="Rectangle 53">
            <a:extLst>
              <a:ext uri="{FF2B5EF4-FFF2-40B4-BE49-F238E27FC236}">
                <a16:creationId xmlns:a16="http://schemas.microsoft.com/office/drawing/2014/main" id="{420551B3-B4DA-48EE-988C-4FAEAEB5C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6" name="Rectangle 55">
            <a:extLst>
              <a:ext uri="{FF2B5EF4-FFF2-40B4-BE49-F238E27FC236}">
                <a16:creationId xmlns:a16="http://schemas.microsoft.com/office/drawing/2014/main" id="{463B06BE-EA23-41F8-95FA-C2121903AA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BD58E42-9528-4E37-BD4B-D2153C0E3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457200"/>
            <a:ext cx="11281609"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p:nvSpPr>
          <p:cNvPr id="60" name="Rectangle 59">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621793"/>
            <a:ext cx="10954512" cy="561441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F40BD70F-606F-466F-88DF-2F78D1997FDE}"/>
              </a:ext>
            </a:extLst>
          </p:cNvPr>
          <p:cNvSpPr>
            <a:spLocks noGrp="1"/>
          </p:cNvSpPr>
          <p:nvPr>
            <p:ph type="title"/>
          </p:nvPr>
        </p:nvSpPr>
        <p:spPr>
          <a:xfrm>
            <a:off x="5353249" y="1348844"/>
            <a:ext cx="5716338" cy="1445156"/>
          </a:xfrm>
        </p:spPr>
        <p:txBody>
          <a:bodyPr vert="horz" lIns="91440" tIns="45720" rIns="91440" bIns="45720" rtlCol="0" anchor="ctr">
            <a:normAutofit/>
          </a:bodyPr>
          <a:lstStyle/>
          <a:p>
            <a:r>
              <a:rPr lang="en-US" sz="5100" dirty="0">
                <a:solidFill>
                  <a:schemeClr val="bg1"/>
                </a:solidFill>
              </a:rPr>
              <a:t>Multicellular?</a:t>
            </a:r>
            <a:br>
              <a:rPr lang="en-US" sz="5100" dirty="0">
                <a:solidFill>
                  <a:schemeClr val="bg1"/>
                </a:solidFill>
              </a:rPr>
            </a:br>
            <a:r>
              <a:rPr lang="en-US" sz="5100" dirty="0">
                <a:solidFill>
                  <a:schemeClr val="bg1"/>
                </a:solidFill>
              </a:rPr>
              <a:t>Protist?</a:t>
            </a:r>
          </a:p>
        </p:txBody>
      </p:sp>
      <p:sp>
        <p:nvSpPr>
          <p:cNvPr id="3" name="Text Placeholder 2">
            <a:extLst>
              <a:ext uri="{FF2B5EF4-FFF2-40B4-BE49-F238E27FC236}">
                <a16:creationId xmlns:a16="http://schemas.microsoft.com/office/drawing/2014/main" id="{39B1466D-C914-4620-BF98-35B1E39472B2}"/>
              </a:ext>
            </a:extLst>
          </p:cNvPr>
          <p:cNvSpPr>
            <a:spLocks noGrp="1"/>
          </p:cNvSpPr>
          <p:nvPr>
            <p:ph type="body" idx="1"/>
          </p:nvPr>
        </p:nvSpPr>
        <p:spPr>
          <a:xfrm>
            <a:off x="5533786" y="2856771"/>
            <a:ext cx="5355264" cy="2776266"/>
          </a:xfrm>
        </p:spPr>
        <p:txBody>
          <a:bodyPr vert="horz" lIns="91440" tIns="45720" rIns="91440" bIns="45720" rtlCol="0">
            <a:normAutofit fontScale="92500"/>
          </a:bodyPr>
          <a:lstStyle/>
          <a:p>
            <a:pPr marL="285750" indent="-285750">
              <a:lnSpc>
                <a:spcPct val="90000"/>
              </a:lnSpc>
              <a:spcBef>
                <a:spcPts val="0"/>
              </a:spcBef>
              <a:spcAft>
                <a:spcPts val="600"/>
              </a:spcAft>
              <a:buFont typeface="Arial" panose="020B0604020202020204" pitchFamily="34" charset="0"/>
              <a:buChar char="•"/>
            </a:pPr>
            <a:r>
              <a:rPr lang="en-US" sz="1600" b="0" i="0" spc="80" dirty="0">
                <a:solidFill>
                  <a:schemeClr val="bg1"/>
                </a:solidFill>
                <a:effectLst/>
              </a:rPr>
              <a:t>Not all protists are single-celled, and that means kelp is multicellular as it possesses different cells with different functions, especially for nutrition and growth.</a:t>
            </a:r>
          </a:p>
          <a:p>
            <a:pPr marL="285750" indent="-285750">
              <a:lnSpc>
                <a:spcPct val="90000"/>
              </a:lnSpc>
              <a:spcBef>
                <a:spcPts val="0"/>
              </a:spcBef>
              <a:spcAft>
                <a:spcPts val="600"/>
              </a:spcAft>
              <a:buFont typeface="Arial" panose="020B0604020202020204" pitchFamily="34" charset="0"/>
              <a:buChar char="•"/>
            </a:pPr>
            <a:r>
              <a:rPr lang="en-US" sz="1600" b="0" i="0" spc="80" dirty="0">
                <a:solidFill>
                  <a:schemeClr val="bg1"/>
                </a:solidFill>
                <a:effectLst/>
              </a:rPr>
              <a:t>Kelp has cell walls, and they are made primarily of cellulose in the inner part, while the outer layer wall is made of a substance known as algin.</a:t>
            </a:r>
          </a:p>
          <a:p>
            <a:pPr marL="285750" indent="-285750">
              <a:lnSpc>
                <a:spcPct val="90000"/>
              </a:lnSpc>
              <a:spcBef>
                <a:spcPts val="0"/>
              </a:spcBef>
              <a:spcAft>
                <a:spcPts val="600"/>
              </a:spcAft>
              <a:buFont typeface="Arial" panose="020B0604020202020204" pitchFamily="34" charset="0"/>
              <a:buChar char="•"/>
            </a:pPr>
            <a:r>
              <a:rPr lang="en-US" sz="1600" b="0" i="0" spc="80" dirty="0">
                <a:solidFill>
                  <a:schemeClr val="bg1"/>
                </a:solidFill>
                <a:effectLst/>
              </a:rPr>
              <a:t>Algin is used to make medicine. Algin is used to lower cholesterol levels and to reduce the amount of heavy chemicals including strontium, barium, tin, cadmium, manganese, zinc, and mercury that are taken up by the body.</a:t>
            </a:r>
          </a:p>
        </p:txBody>
      </p:sp>
      <p:pic>
        <p:nvPicPr>
          <p:cNvPr id="5" name="Picture 4">
            <a:extLst>
              <a:ext uri="{FF2B5EF4-FFF2-40B4-BE49-F238E27FC236}">
                <a16:creationId xmlns:a16="http://schemas.microsoft.com/office/drawing/2014/main" id="{4530F8A2-4D5E-4160-AEF6-B25C358FB952}"/>
              </a:ext>
            </a:extLst>
          </p:cNvPr>
          <p:cNvPicPr>
            <a:picLocks noChangeAspect="1"/>
          </p:cNvPicPr>
          <p:nvPr/>
        </p:nvPicPr>
        <p:blipFill rotWithShape="1">
          <a:blip r:embed="rId2"/>
          <a:srcRect l="11980" r="17866" b="3"/>
          <a:stretch/>
        </p:blipFill>
        <p:spPr>
          <a:xfrm>
            <a:off x="616737" y="621793"/>
            <a:ext cx="4376501" cy="5614416"/>
          </a:xfrm>
          <a:prstGeom prst="rect">
            <a:avLst/>
          </a:prstGeom>
        </p:spPr>
      </p:pic>
      <p:sp>
        <p:nvSpPr>
          <p:cNvPr id="62" name="Rectangle 61">
            <a:extLst>
              <a:ext uri="{FF2B5EF4-FFF2-40B4-BE49-F238E27FC236}">
                <a16:creationId xmlns:a16="http://schemas.microsoft.com/office/drawing/2014/main" id="{4ABD1344-3ECB-4121-9DA5-5803B789F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51298"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4" name="Straight Connector 63">
            <a:extLst>
              <a:ext uri="{FF2B5EF4-FFF2-40B4-BE49-F238E27FC236}">
                <a16:creationId xmlns:a16="http://schemas.microsoft.com/office/drawing/2014/main" id="{10777ED6-C75F-413D-B1A7-A87484859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65598"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738CB9E-8778-46C8-9564-691BCFA6C7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238"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FAAFDA8-0685-4629-AEF8-A47DD6E975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65598"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602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4" name="Rectangle 13">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16" name="Rectangle 15">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534" y="237744"/>
            <a:ext cx="2926080" cy="6382512"/>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9100"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4A9B8-C38E-49F3-97A6-E4F674B0419A}"/>
              </a:ext>
            </a:extLst>
          </p:cNvPr>
          <p:cNvSpPr>
            <a:spLocks noGrp="1"/>
          </p:cNvSpPr>
          <p:nvPr>
            <p:ph type="title"/>
          </p:nvPr>
        </p:nvSpPr>
        <p:spPr>
          <a:xfrm>
            <a:off x="557719" y="612843"/>
            <a:ext cx="2477581" cy="1499738"/>
          </a:xfrm>
        </p:spPr>
        <p:txBody>
          <a:bodyPr vert="horz" lIns="91440" tIns="45720" rIns="91440" bIns="45720" rtlCol="0" anchor="b">
            <a:normAutofit/>
          </a:bodyPr>
          <a:lstStyle/>
          <a:p>
            <a:r>
              <a:rPr lang="en-US" sz="2800" dirty="0"/>
              <a:t>Sexual Reproduction</a:t>
            </a:r>
          </a:p>
        </p:txBody>
      </p:sp>
      <p:sp>
        <p:nvSpPr>
          <p:cNvPr id="4" name="Content Placeholder 3">
            <a:extLst>
              <a:ext uri="{FF2B5EF4-FFF2-40B4-BE49-F238E27FC236}">
                <a16:creationId xmlns:a16="http://schemas.microsoft.com/office/drawing/2014/main" id="{93FDAC5A-46AB-40EC-AD23-20A7EABBDDD1}"/>
              </a:ext>
            </a:extLst>
          </p:cNvPr>
          <p:cNvSpPr>
            <a:spLocks noGrp="1"/>
          </p:cNvSpPr>
          <p:nvPr>
            <p:ph sz="half" idx="2"/>
          </p:nvPr>
        </p:nvSpPr>
        <p:spPr>
          <a:xfrm>
            <a:off x="557720" y="2149813"/>
            <a:ext cx="2312479" cy="3854197"/>
          </a:xfrm>
        </p:spPr>
        <p:txBody>
          <a:bodyPr vert="horz" lIns="91440" tIns="45720" rIns="91440" bIns="45720" rtlCol="0">
            <a:normAutofit/>
          </a:bodyPr>
          <a:lstStyle/>
          <a:p>
            <a:pPr>
              <a:lnSpc>
                <a:spcPct val="100000"/>
              </a:lnSpc>
            </a:pPr>
            <a:r>
              <a:rPr lang="en-US" sz="1400" dirty="0">
                <a:solidFill>
                  <a:schemeClr val="tx1">
                    <a:lumMod val="85000"/>
                    <a:lumOff val="15000"/>
                  </a:schemeClr>
                </a:solidFill>
              </a:rPr>
              <a:t>Sperm will attach to an egg cell to form a zygote, which undergoes rapid cell division to form the early sporophyte pictured below. If for some reason the sperm and egg detach, the cells can still continue to search for another. Continued cell division will result in the growth of an adult sporophyte</a:t>
            </a:r>
          </a:p>
        </p:txBody>
      </p:sp>
      <p:sp>
        <p:nvSpPr>
          <p:cNvPr id="22" name="Rectangle 2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9764" y="413053"/>
            <a:ext cx="8212114" cy="6064596"/>
          </a:xfrm>
          <a:prstGeom prst="rect">
            <a:avLst/>
          </a:prstGeom>
          <a:noFill/>
          <a:ln w="6350" cap="sq" cmpd="sng" algn="ctr">
            <a:solidFill>
              <a:srgbClr val="404040"/>
            </a:solidFill>
            <a:prstDash val="solid"/>
            <a:miter lim="800000"/>
          </a:ln>
          <a:effectLst/>
        </p:spPr>
      </p:sp>
      <p:pic>
        <p:nvPicPr>
          <p:cNvPr id="5" name="Content Placeholder 4">
            <a:extLst>
              <a:ext uri="{FF2B5EF4-FFF2-40B4-BE49-F238E27FC236}">
                <a16:creationId xmlns:a16="http://schemas.microsoft.com/office/drawing/2014/main" id="{AE681808-0B31-4168-BA56-35F5D414F462}"/>
              </a:ext>
            </a:extLst>
          </p:cNvPr>
          <p:cNvPicPr>
            <a:picLocks noGrp="1" noChangeAspect="1"/>
          </p:cNvPicPr>
          <p:nvPr>
            <p:ph sz="half" idx="1"/>
          </p:nvPr>
        </p:nvPicPr>
        <p:blipFill>
          <a:blip r:embed="rId2"/>
          <a:stretch>
            <a:fillRect/>
          </a:stretch>
        </p:blipFill>
        <p:spPr>
          <a:xfrm>
            <a:off x="4049422" y="1389456"/>
            <a:ext cx="7237877" cy="4107495"/>
          </a:xfrm>
          <a:prstGeom prst="rect">
            <a:avLst/>
          </a:prstGeom>
        </p:spPr>
      </p:pic>
    </p:spTree>
    <p:extLst>
      <p:ext uri="{BB962C8B-B14F-4D97-AF65-F5344CB8AC3E}">
        <p14:creationId xmlns:p14="http://schemas.microsoft.com/office/powerpoint/2010/main" val="86534312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A85E1F-7D01-4EEA-917E-A43E607D4BA4}"/>
              </a:ext>
            </a:extLst>
          </p:cNvPr>
          <p:cNvSpPr>
            <a:spLocks noGrp="1"/>
          </p:cNvSpPr>
          <p:nvPr>
            <p:ph type="title"/>
          </p:nvPr>
        </p:nvSpPr>
        <p:spPr/>
        <p:txBody>
          <a:bodyPr/>
          <a:lstStyle/>
          <a:p>
            <a:r>
              <a:rPr lang="en-US" dirty="0"/>
              <a:t>Their Own Forest Under Water.</a:t>
            </a:r>
          </a:p>
        </p:txBody>
      </p:sp>
      <p:sp>
        <p:nvSpPr>
          <p:cNvPr id="4" name="Text Placeholder 3">
            <a:extLst>
              <a:ext uri="{FF2B5EF4-FFF2-40B4-BE49-F238E27FC236}">
                <a16:creationId xmlns:a16="http://schemas.microsoft.com/office/drawing/2014/main" id="{F1D3D1E1-361A-4C83-B74C-C8850AE37FA7}"/>
              </a:ext>
            </a:extLst>
          </p:cNvPr>
          <p:cNvSpPr>
            <a:spLocks noGrp="1"/>
          </p:cNvSpPr>
          <p:nvPr>
            <p:ph type="body" sz="half" idx="2"/>
          </p:nvPr>
        </p:nvSpPr>
        <p:spPr/>
        <p:txBody>
          <a:bodyPr>
            <a:normAutofit fontScale="92500" lnSpcReduction="10000"/>
          </a:bodyPr>
          <a:lstStyle/>
          <a:p>
            <a:pPr marL="285750" indent="-285750">
              <a:buFont typeface="Arial" panose="020B0604020202020204" pitchFamily="34" charset="0"/>
              <a:buChar char="•"/>
            </a:pPr>
            <a:r>
              <a:rPr lang="en-US" b="0" i="0" dirty="0">
                <a:solidFill>
                  <a:srgbClr val="212529"/>
                </a:solidFill>
                <a:effectLst/>
                <a:latin typeface="Times New Roman" panose="02020603050405020304" pitchFamily="18" charset="0"/>
                <a:cs typeface="Times New Roman" panose="02020603050405020304" pitchFamily="18" charset="0"/>
              </a:rPr>
              <a:t>Kelp grows in temperate water and can be seen in forests.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feeding, kelp stores food in laminarin and the reproductive part of kelp; it possesses sperm and spores, which can undergo both sexual and asexual reproduction. Also, some kelp cells can grow so significant because it has all that is required to overgrow.</a:t>
            </a:r>
          </a:p>
          <a:p>
            <a:pPr marL="285750" indent="-285750">
              <a:buFont typeface="Arial" panose="020B0604020202020204" pitchFamily="34" charset="0"/>
              <a:buChar char="•"/>
            </a:pPr>
            <a:endParaRPr lang="en-US" dirty="0"/>
          </a:p>
          <a:p>
            <a:endParaRPr lang="en-US" dirty="0"/>
          </a:p>
        </p:txBody>
      </p:sp>
      <p:pic>
        <p:nvPicPr>
          <p:cNvPr id="1028" name="Picture 4">
            <a:extLst>
              <a:ext uri="{FF2B5EF4-FFF2-40B4-BE49-F238E27FC236}">
                <a16:creationId xmlns:a16="http://schemas.microsoft.com/office/drawing/2014/main" id="{86FBEC6E-3A2D-4800-A748-2DFA94BE3660}"/>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11911" r="11911"/>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0446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4" name="Rectangle 13">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16" name="Rectangle 15">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534" y="237744"/>
            <a:ext cx="2926080" cy="6382512"/>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9100"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4F0BB8-9315-45A2-9545-16BC68674B6A}"/>
              </a:ext>
            </a:extLst>
          </p:cNvPr>
          <p:cNvSpPr>
            <a:spLocks noGrp="1"/>
          </p:cNvSpPr>
          <p:nvPr>
            <p:ph type="title"/>
          </p:nvPr>
        </p:nvSpPr>
        <p:spPr>
          <a:xfrm>
            <a:off x="557720" y="612843"/>
            <a:ext cx="2312480" cy="1499738"/>
          </a:xfrm>
        </p:spPr>
        <p:txBody>
          <a:bodyPr vert="horz" lIns="91440" tIns="45720" rIns="91440" bIns="45720" rtlCol="0" anchor="b">
            <a:normAutofit/>
          </a:bodyPr>
          <a:lstStyle/>
          <a:p>
            <a:r>
              <a:rPr lang="en-US" sz="2800" dirty="0"/>
              <a:t>Giant Buffets</a:t>
            </a:r>
          </a:p>
        </p:txBody>
      </p:sp>
      <p:sp>
        <p:nvSpPr>
          <p:cNvPr id="3" name="Content Placeholder 2">
            <a:extLst>
              <a:ext uri="{FF2B5EF4-FFF2-40B4-BE49-F238E27FC236}">
                <a16:creationId xmlns:a16="http://schemas.microsoft.com/office/drawing/2014/main" id="{130ECDAE-74C9-4B28-8F7E-AC64D3F8AB3D}"/>
              </a:ext>
            </a:extLst>
          </p:cNvPr>
          <p:cNvSpPr>
            <a:spLocks noGrp="1"/>
          </p:cNvSpPr>
          <p:nvPr>
            <p:ph sz="half" idx="1"/>
          </p:nvPr>
        </p:nvSpPr>
        <p:spPr>
          <a:xfrm>
            <a:off x="557720" y="2149813"/>
            <a:ext cx="2312479" cy="3854197"/>
          </a:xfrm>
        </p:spPr>
        <p:txBody>
          <a:bodyPr vert="horz" lIns="91440" tIns="45720" rIns="91440" bIns="45720" rtlCol="0">
            <a:normAutofit lnSpcReduction="10000"/>
          </a:bodyPr>
          <a:lstStyle/>
          <a:p>
            <a:pPr>
              <a:lnSpc>
                <a:spcPct val="100000"/>
              </a:lnSpc>
            </a:pPr>
            <a:r>
              <a:rPr lang="en-US" sz="1400" dirty="0">
                <a:solidFill>
                  <a:schemeClr val="tx1">
                    <a:lumMod val="85000"/>
                    <a:lumOff val="15000"/>
                  </a:schemeClr>
                </a:solidFill>
              </a:rPr>
              <a:t>Giant kelp grow to 100 feet (30 m) on average but can reach lengths of 175 feet (53 m) in ideal conditions.</a:t>
            </a:r>
          </a:p>
          <a:p>
            <a:pPr>
              <a:lnSpc>
                <a:spcPct val="100000"/>
              </a:lnSpc>
            </a:pPr>
            <a:r>
              <a:rPr lang="en-US" sz="1400" dirty="0">
                <a:solidFill>
                  <a:schemeClr val="tx1">
                    <a:lumMod val="85000"/>
                    <a:lumOff val="15000"/>
                  </a:schemeClr>
                </a:solidFill>
              </a:rPr>
              <a:t>Giant kelp grow at an average rate of 11 inches (28 cm) a day but can grow 24 inches (61 cm) a day in ideal conditions.</a:t>
            </a:r>
          </a:p>
          <a:p>
            <a:pPr>
              <a:lnSpc>
                <a:spcPct val="100000"/>
              </a:lnSpc>
            </a:pPr>
            <a:r>
              <a:rPr lang="en-US" sz="1400" dirty="0">
                <a:solidFill>
                  <a:schemeClr val="tx1">
                    <a:lumMod val="85000"/>
                    <a:lumOff val="15000"/>
                  </a:schemeClr>
                </a:solidFill>
              </a:rPr>
              <a:t>In all this there are still plenty living around and near these beautiful forests. Including their Predators.</a:t>
            </a:r>
          </a:p>
        </p:txBody>
      </p:sp>
      <p:sp>
        <p:nvSpPr>
          <p:cNvPr id="22" name="Rectangle 2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9764" y="413053"/>
            <a:ext cx="8212114" cy="6064596"/>
          </a:xfrm>
          <a:prstGeom prst="rect">
            <a:avLst/>
          </a:prstGeom>
          <a:noFill/>
          <a:ln w="6350" cap="sq" cmpd="sng" algn="ctr">
            <a:solidFill>
              <a:srgbClr val="404040"/>
            </a:solidFill>
            <a:prstDash val="solid"/>
            <a:miter lim="800000"/>
          </a:ln>
          <a:effectLst/>
        </p:spPr>
      </p:sp>
      <p:pic>
        <p:nvPicPr>
          <p:cNvPr id="5" name="Content Placeholder 4">
            <a:extLst>
              <a:ext uri="{FF2B5EF4-FFF2-40B4-BE49-F238E27FC236}">
                <a16:creationId xmlns:a16="http://schemas.microsoft.com/office/drawing/2014/main" id="{5DD856E8-BA30-4DDD-9762-EF256134DD45}"/>
              </a:ext>
            </a:extLst>
          </p:cNvPr>
          <p:cNvPicPr>
            <a:picLocks noGrp="1" noChangeAspect="1"/>
          </p:cNvPicPr>
          <p:nvPr>
            <p:ph sz="half" idx="2"/>
          </p:nvPr>
        </p:nvPicPr>
        <p:blipFill>
          <a:blip r:embed="rId2"/>
          <a:stretch>
            <a:fillRect/>
          </a:stretch>
        </p:blipFill>
        <p:spPr>
          <a:xfrm>
            <a:off x="4049422" y="1704103"/>
            <a:ext cx="7237877" cy="3478202"/>
          </a:xfrm>
          <a:prstGeom prst="rect">
            <a:avLst/>
          </a:prstGeom>
        </p:spPr>
      </p:pic>
    </p:spTree>
    <p:extLst>
      <p:ext uri="{BB962C8B-B14F-4D97-AF65-F5344CB8AC3E}">
        <p14:creationId xmlns:p14="http://schemas.microsoft.com/office/powerpoint/2010/main" val="20194795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48DB4B7D-6E19-4B1E-A0ED-621919C15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37" name="Rectangle 36">
            <a:extLst>
              <a:ext uri="{FF2B5EF4-FFF2-40B4-BE49-F238E27FC236}">
                <a16:creationId xmlns:a16="http://schemas.microsoft.com/office/drawing/2014/main" id="{4CB196DE-BC07-4C0A-9A6F-6FFD5F775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9" name="Rectangle 38">
            <a:extLst>
              <a:ext uri="{FF2B5EF4-FFF2-40B4-BE49-F238E27FC236}">
                <a16:creationId xmlns:a16="http://schemas.microsoft.com/office/drawing/2014/main" id="{2C13C32D-C8E0-49CB-AF18-A6A13B7FE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1" name="Group 40">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42" name="Straight Connector 41">
              <a:extLst>
                <a:ext uri="{FF2B5EF4-FFF2-40B4-BE49-F238E27FC236}">
                  <a16:creationId xmlns:a16="http://schemas.microsoft.com/office/drawing/2014/main" id="{65E3DF13-4412-4927-AA38-F077B5A4CBD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569EC13-67CE-4C90-95BA-1F7D7F3D38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A59492E-0F24-4A22-B24D-A110B4031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useBgFill="1">
        <p:nvSpPr>
          <p:cNvPr id="46" name="Rectangle 45">
            <a:extLst>
              <a:ext uri="{FF2B5EF4-FFF2-40B4-BE49-F238E27FC236}">
                <a16:creationId xmlns:a16="http://schemas.microsoft.com/office/drawing/2014/main" id="{0E7CA313-2F4B-4574-8399-12EF6A1BF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C75940C-F4E8-4B1B-B4ED-94BDA4595003}"/>
              </a:ext>
            </a:extLst>
          </p:cNvPr>
          <p:cNvPicPr>
            <a:picLocks noGrp="1" noChangeAspect="1"/>
          </p:cNvPicPr>
          <p:nvPr>
            <p:ph sz="half" idx="2"/>
          </p:nvPr>
        </p:nvPicPr>
        <p:blipFill rotWithShape="1">
          <a:blip r:embed="rId2"/>
          <a:srcRect l="18391" r="5768"/>
          <a:stretch/>
        </p:blipFill>
        <p:spPr>
          <a:xfrm>
            <a:off x="-1" y="10"/>
            <a:ext cx="6095997" cy="4530063"/>
          </a:xfrm>
          <a:prstGeom prst="rect">
            <a:avLst/>
          </a:prstGeom>
        </p:spPr>
      </p:pic>
      <p:pic>
        <p:nvPicPr>
          <p:cNvPr id="6" name="Content Placeholder 5">
            <a:extLst>
              <a:ext uri="{FF2B5EF4-FFF2-40B4-BE49-F238E27FC236}">
                <a16:creationId xmlns:a16="http://schemas.microsoft.com/office/drawing/2014/main" id="{5F2D53D6-5546-4318-8D16-C9E02F097F9E}"/>
              </a:ext>
            </a:extLst>
          </p:cNvPr>
          <p:cNvPicPr>
            <a:picLocks noGrp="1" noChangeAspect="1"/>
          </p:cNvPicPr>
          <p:nvPr>
            <p:ph sz="half" idx="1"/>
          </p:nvPr>
        </p:nvPicPr>
        <p:blipFill rotWithShape="1">
          <a:blip r:embed="rId3"/>
          <a:srcRect t="4953" b="12707"/>
          <a:stretch/>
        </p:blipFill>
        <p:spPr>
          <a:xfrm>
            <a:off x="6096004" y="0"/>
            <a:ext cx="6095996" cy="4530074"/>
          </a:xfrm>
          <a:prstGeom prst="rect">
            <a:avLst/>
          </a:prstGeom>
        </p:spPr>
      </p:pic>
      <p:sp>
        <p:nvSpPr>
          <p:cNvPr id="48" name="Rectangle 47">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lumMod val="75000"/>
              <a:lumOff val="25000"/>
            </a:schemeClr>
          </a:solidFill>
          <a:ln w="6350" cap="sq" cmpd="sng" algn="ctr">
            <a:noFill/>
            <a:prstDash val="solid"/>
            <a:miter lim="800000"/>
          </a:ln>
          <a:effectLst/>
        </p:spPr>
      </p:sp>
      <p:sp>
        <p:nvSpPr>
          <p:cNvPr id="50" name="Rectangle 49">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C475D1B5-A646-4F84-B509-3AEADFC3C3B0}"/>
              </a:ext>
            </a:extLst>
          </p:cNvPr>
          <p:cNvSpPr>
            <a:spLocks noGrp="1"/>
          </p:cNvSpPr>
          <p:nvPr>
            <p:ph type="title"/>
          </p:nvPr>
        </p:nvSpPr>
        <p:spPr>
          <a:xfrm>
            <a:off x="372723" y="4956811"/>
            <a:ext cx="11439414" cy="897439"/>
          </a:xfrm>
        </p:spPr>
        <p:txBody>
          <a:bodyPr vert="horz" lIns="91440" tIns="45720" rIns="91440" bIns="45720" rtlCol="0" anchor="ctr">
            <a:normAutofit/>
          </a:bodyPr>
          <a:lstStyle/>
          <a:p>
            <a:pPr algn="ctr">
              <a:lnSpc>
                <a:spcPct val="83000"/>
              </a:lnSpc>
            </a:pPr>
            <a:r>
              <a:rPr lang="en-US" sz="1800" cap="all" spc="-100" dirty="0">
                <a:solidFill>
                  <a:schemeClr val="tx1"/>
                </a:solidFill>
              </a:rPr>
              <a:t>Kelp is eaten by a lot of invertebrate species. (Invertebrates are animals without backbones.) Invertebrates that eat kelp include snails and shellfish such as crabs, sea urchins and abalone. These shellfish are themselves eaten by other creatures. Such as Cheeky Otters</a:t>
            </a:r>
          </a:p>
        </p:txBody>
      </p:sp>
    </p:spTree>
    <p:extLst>
      <p:ext uri="{BB962C8B-B14F-4D97-AF65-F5344CB8AC3E}">
        <p14:creationId xmlns:p14="http://schemas.microsoft.com/office/powerpoint/2010/main" val="2009040300"/>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4" name="Rectangle 13">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16" name="Rectangle 15">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C634EC1-81A4-4E82-9525-649C788D6552}"/>
              </a:ext>
            </a:extLst>
          </p:cNvPr>
          <p:cNvPicPr>
            <a:picLocks noGrp="1" noChangeAspect="1"/>
          </p:cNvPicPr>
          <p:nvPr>
            <p:ph idx="1"/>
          </p:nvPr>
        </p:nvPicPr>
        <p:blipFill rotWithShape="1">
          <a:blip r:embed="rId2"/>
          <a:srcRect t="1380" r="8301" b="6920"/>
          <a:stretch/>
        </p:blipFill>
        <p:spPr>
          <a:xfrm>
            <a:off x="20" y="-1"/>
            <a:ext cx="12191980" cy="6857999"/>
          </a:xfrm>
          <a:prstGeom prst="rect">
            <a:avLst/>
          </a:prstGeom>
        </p:spPr>
      </p:pic>
      <p:sp>
        <p:nvSpPr>
          <p:cNvPr id="18" name="Rectangle 17">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0F736C-E09F-440B-8534-A6542B03B504}"/>
              </a:ext>
            </a:extLst>
          </p:cNvPr>
          <p:cNvSpPr>
            <a:spLocks noGrp="1"/>
          </p:cNvSpPr>
          <p:nvPr>
            <p:ph type="title"/>
          </p:nvPr>
        </p:nvSpPr>
        <p:spPr>
          <a:xfrm>
            <a:off x="774043" y="727626"/>
            <a:ext cx="4602152" cy="1718225"/>
          </a:xfrm>
        </p:spPr>
        <p:txBody>
          <a:bodyPr vert="horz" lIns="91440" tIns="45720" rIns="91440" bIns="45720" rtlCol="0" anchor="ctr">
            <a:normAutofit/>
          </a:bodyPr>
          <a:lstStyle/>
          <a:p>
            <a:pPr>
              <a:lnSpc>
                <a:spcPct val="90000"/>
              </a:lnSpc>
            </a:pPr>
            <a:r>
              <a:rPr lang="en-US" sz="4400">
                <a:solidFill>
                  <a:schemeClr val="tx1">
                    <a:lumMod val="85000"/>
                    <a:lumOff val="15000"/>
                  </a:schemeClr>
                </a:solidFill>
              </a:rPr>
              <a:t>Whole Communities!</a:t>
            </a:r>
          </a:p>
        </p:txBody>
      </p:sp>
      <p:sp>
        <p:nvSpPr>
          <p:cNvPr id="4" name="Text Placeholder 3">
            <a:extLst>
              <a:ext uri="{FF2B5EF4-FFF2-40B4-BE49-F238E27FC236}">
                <a16:creationId xmlns:a16="http://schemas.microsoft.com/office/drawing/2014/main" id="{1557217B-4EEB-4B48-992C-8B237988ABB0}"/>
              </a:ext>
            </a:extLst>
          </p:cNvPr>
          <p:cNvSpPr>
            <a:spLocks noGrp="1"/>
          </p:cNvSpPr>
          <p:nvPr>
            <p:ph type="body" sz="half" idx="2"/>
          </p:nvPr>
        </p:nvSpPr>
        <p:spPr>
          <a:xfrm>
            <a:off x="774043" y="2538920"/>
            <a:ext cx="4602152" cy="3480066"/>
          </a:xfrm>
        </p:spPr>
        <p:txBody>
          <a:bodyPr vert="horz" lIns="91440" tIns="45720" rIns="91440" bIns="45720" rtlCol="0">
            <a:normAutofit/>
          </a:bodyPr>
          <a:lstStyle/>
          <a:p>
            <a:pPr indent="-182880">
              <a:lnSpc>
                <a:spcPct val="100000"/>
              </a:lnSpc>
              <a:buFont typeface="Garamond" pitchFamily="18" charset="0"/>
              <a:buChar char="◦"/>
            </a:pPr>
            <a:r>
              <a:rPr lang="en-US" dirty="0"/>
              <a:t>Invertebrates graze on the blades, fish seek shelter in the fronds, and thousands of invertebrates live in the rootlike holdfast, including brittle stars, sea stars, anemones, sponges and tunicates.</a:t>
            </a:r>
          </a:p>
          <a:p>
            <a:pPr indent="-182880">
              <a:lnSpc>
                <a:spcPct val="100000"/>
              </a:lnSpc>
              <a:buFont typeface="Garamond" pitchFamily="18" charset="0"/>
              <a:buChar char="◦"/>
            </a:pPr>
            <a:r>
              <a:rPr lang="en-US" dirty="0"/>
              <a:t>Found mostly in nearshore waters, this algae is perennial but that doesn’t stop schools from enjoying a swim through the neighborhood.</a:t>
            </a:r>
          </a:p>
          <a:p>
            <a:pPr indent="-182880">
              <a:lnSpc>
                <a:spcPct val="100000"/>
              </a:lnSpc>
              <a:buFont typeface="Garamond" pitchFamily="18" charset="0"/>
              <a:buChar char="◦"/>
            </a:pPr>
            <a:endParaRPr lang="en-US" dirty="0"/>
          </a:p>
        </p:txBody>
      </p:sp>
    </p:spTree>
    <p:extLst>
      <p:ext uri="{BB962C8B-B14F-4D97-AF65-F5344CB8AC3E}">
        <p14:creationId xmlns:p14="http://schemas.microsoft.com/office/powerpoint/2010/main" val="3882621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4" name="Rectangle 13">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16" name="Rectangle 15">
            <a:extLst>
              <a:ext uri="{FF2B5EF4-FFF2-40B4-BE49-F238E27FC236}">
                <a16:creationId xmlns:a16="http://schemas.microsoft.com/office/drawing/2014/main" id="{B6EE7E08-B389-43E5-B019-1B0A8ACBB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0153E11-7152-4AE6-BE2A-6291EB0067B1}"/>
              </a:ext>
            </a:extLst>
          </p:cNvPr>
          <p:cNvPicPr>
            <a:picLocks noGrp="1" noChangeAspect="1"/>
          </p:cNvPicPr>
          <p:nvPr>
            <p:ph sz="half" idx="2"/>
          </p:nvPr>
        </p:nvPicPr>
        <p:blipFill rotWithShape="1">
          <a:blip r:embed="rId2"/>
          <a:srcRect l="25481" r="8337" b="1"/>
          <a:stretch/>
        </p:blipFill>
        <p:spPr>
          <a:xfrm>
            <a:off x="20" y="10"/>
            <a:ext cx="6392647" cy="6857990"/>
          </a:xfrm>
          <a:prstGeom prst="rect">
            <a:avLst/>
          </a:prstGeom>
        </p:spPr>
      </p:pic>
      <p:sp>
        <p:nvSpPr>
          <p:cNvPr id="18" name="Rectangle 17">
            <a:extLst>
              <a:ext uri="{FF2B5EF4-FFF2-40B4-BE49-F238E27FC236}">
                <a16:creationId xmlns:a16="http://schemas.microsoft.com/office/drawing/2014/main" id="{E60D94A5-8A09-4BAB-8F7C-69BC34C54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A1AE32B-3A6E-4C5E-8FEB-73861B9A2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1CE807-9E73-48EE-9FE8-81A24CB3D3D8}"/>
              </a:ext>
            </a:extLst>
          </p:cNvPr>
          <p:cNvSpPr>
            <a:spLocks noGrp="1"/>
          </p:cNvSpPr>
          <p:nvPr>
            <p:ph type="title"/>
          </p:nvPr>
        </p:nvSpPr>
        <p:spPr>
          <a:xfrm>
            <a:off x="7064082" y="642594"/>
            <a:ext cx="4472921" cy="1371600"/>
          </a:xfrm>
        </p:spPr>
        <p:txBody>
          <a:bodyPr vert="horz" lIns="91440" tIns="45720" rIns="91440" bIns="45720" rtlCol="0" anchor="ctr">
            <a:normAutofit/>
          </a:bodyPr>
          <a:lstStyle/>
          <a:p>
            <a:r>
              <a:rPr lang="en-US" dirty="0"/>
              <a:t>Furry Friendly Guardian</a:t>
            </a:r>
          </a:p>
        </p:txBody>
      </p:sp>
      <p:sp>
        <p:nvSpPr>
          <p:cNvPr id="3" name="Content Placeholder 2">
            <a:extLst>
              <a:ext uri="{FF2B5EF4-FFF2-40B4-BE49-F238E27FC236}">
                <a16:creationId xmlns:a16="http://schemas.microsoft.com/office/drawing/2014/main" id="{9B2E606D-0CF1-4EA3-BD68-E9BC0E855BC1}"/>
              </a:ext>
            </a:extLst>
          </p:cNvPr>
          <p:cNvSpPr>
            <a:spLocks noGrp="1"/>
          </p:cNvSpPr>
          <p:nvPr>
            <p:ph sz="half" idx="1"/>
          </p:nvPr>
        </p:nvSpPr>
        <p:spPr>
          <a:xfrm>
            <a:off x="7064082" y="2103120"/>
            <a:ext cx="4472922" cy="3931920"/>
          </a:xfrm>
        </p:spPr>
        <p:txBody>
          <a:bodyPr vert="horz" lIns="91440" tIns="45720" rIns="91440" bIns="45720" rtlCol="0">
            <a:normAutofit/>
          </a:bodyPr>
          <a:lstStyle/>
          <a:p>
            <a:pPr>
              <a:lnSpc>
                <a:spcPct val="90000"/>
              </a:lnSpc>
            </a:pPr>
            <a:r>
              <a:rPr lang="en-US" dirty="0"/>
              <a:t>Sea otters also like to hang out in the kelp forest, where they find their favorite foods and can wrap up in a kelp frond to keep from drifting away at naptime. </a:t>
            </a:r>
            <a:endParaRPr lang="en-US"/>
          </a:p>
          <a:p>
            <a:pPr>
              <a:lnSpc>
                <a:spcPct val="90000"/>
              </a:lnSpc>
            </a:pPr>
            <a:r>
              <a:rPr lang="en-US" dirty="0"/>
              <a:t>Sea otters play a particularly important role in the health of the bay’s kelp forests; without them, sea urchins — which normally eat pieces of kelp that fall to the seafloor — will feed on the stripes of giant kelp plants and can completely destroy a kelp bed. Otters keep the urchin populations in check so the kelp forests can thrive.</a:t>
            </a:r>
            <a:endParaRPr lang="en-US"/>
          </a:p>
        </p:txBody>
      </p:sp>
    </p:spTree>
    <p:extLst>
      <p:ext uri="{BB962C8B-B14F-4D97-AF65-F5344CB8AC3E}">
        <p14:creationId xmlns:p14="http://schemas.microsoft.com/office/powerpoint/2010/main" val="1391484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32" name="Rectangle 31">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34" name="Rectangle 33">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94E81CAD-89C7-475B-8095-4A9AF5FFFC1E}"/>
              </a:ext>
            </a:extLst>
          </p:cNvPr>
          <p:cNvPicPr>
            <a:picLocks noGrp="1" noChangeAspect="1"/>
          </p:cNvPicPr>
          <p:nvPr>
            <p:ph sz="half" idx="2"/>
          </p:nvPr>
        </p:nvPicPr>
        <p:blipFill rotWithShape="1">
          <a:blip r:embed="rId2"/>
          <a:srcRect l="9091" t="14004" b="11071"/>
          <a:stretch/>
        </p:blipFill>
        <p:spPr>
          <a:xfrm>
            <a:off x="20" y="-1"/>
            <a:ext cx="12191980" cy="6857999"/>
          </a:xfrm>
          <a:prstGeom prst="rect">
            <a:avLst/>
          </a:prstGeom>
        </p:spPr>
      </p:pic>
      <p:sp>
        <p:nvSpPr>
          <p:cNvPr id="36" name="Rectangle 35">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4B482C-7124-454A-A7F6-C41EE7E46E08}"/>
              </a:ext>
            </a:extLst>
          </p:cNvPr>
          <p:cNvSpPr>
            <a:spLocks noGrp="1"/>
          </p:cNvSpPr>
          <p:nvPr>
            <p:ph type="title"/>
          </p:nvPr>
        </p:nvSpPr>
        <p:spPr>
          <a:xfrm>
            <a:off x="6846137" y="727626"/>
            <a:ext cx="4602152" cy="1718225"/>
          </a:xfrm>
        </p:spPr>
        <p:txBody>
          <a:bodyPr vert="horz" lIns="91440" tIns="45720" rIns="91440" bIns="45720" rtlCol="0" anchor="ctr">
            <a:normAutofit/>
          </a:bodyPr>
          <a:lstStyle/>
          <a:p>
            <a:r>
              <a:rPr lang="en-US" sz="4400" dirty="0"/>
              <a:t>Hungry Horrors </a:t>
            </a:r>
          </a:p>
        </p:txBody>
      </p:sp>
      <p:sp>
        <p:nvSpPr>
          <p:cNvPr id="3" name="Content Placeholder 2">
            <a:extLst>
              <a:ext uri="{FF2B5EF4-FFF2-40B4-BE49-F238E27FC236}">
                <a16:creationId xmlns:a16="http://schemas.microsoft.com/office/drawing/2014/main" id="{EDD86985-27CE-4038-BCC2-749D0C547D9F}"/>
              </a:ext>
            </a:extLst>
          </p:cNvPr>
          <p:cNvSpPr>
            <a:spLocks noGrp="1"/>
          </p:cNvSpPr>
          <p:nvPr>
            <p:ph sz="half" idx="1"/>
          </p:nvPr>
        </p:nvSpPr>
        <p:spPr>
          <a:xfrm>
            <a:off x="6846137" y="2538920"/>
            <a:ext cx="4602152" cy="3480066"/>
          </a:xfrm>
        </p:spPr>
        <p:txBody>
          <a:bodyPr vert="horz" lIns="91440" tIns="45720" rIns="91440" bIns="45720" rtlCol="0">
            <a:normAutofit/>
          </a:bodyPr>
          <a:lstStyle/>
          <a:p>
            <a:pPr>
              <a:lnSpc>
                <a:spcPct val="100000"/>
              </a:lnSpc>
            </a:pPr>
            <a:r>
              <a:rPr lang="en-US" dirty="0"/>
              <a:t>Sea urchins use their sensory tube feet to catch drifting kelp and carry it to its mouth on the underside. Its five-part jaw efficiently cuts off pieces to eat.</a:t>
            </a:r>
          </a:p>
          <a:p>
            <a:pPr>
              <a:lnSpc>
                <a:spcPct val="100000"/>
              </a:lnSpc>
            </a:pPr>
            <a:r>
              <a:rPr lang="en-US" dirty="0"/>
              <a:t>Just one wouldn’t be much to worry about for such a large specimen but with the Holdfast being the first part to be eaten, it can send a Kelp strand </a:t>
            </a:r>
            <a:r>
              <a:rPr lang="en-US"/>
              <a:t>driftring</a:t>
            </a:r>
            <a:r>
              <a:rPr lang="en-US" dirty="0"/>
              <a:t> away with little left to support itself in the tidal waters.</a:t>
            </a:r>
          </a:p>
        </p:txBody>
      </p:sp>
    </p:spTree>
    <p:extLst>
      <p:ext uri="{BB962C8B-B14F-4D97-AF65-F5344CB8AC3E}">
        <p14:creationId xmlns:p14="http://schemas.microsoft.com/office/powerpoint/2010/main" val="2966856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4" name="Rectangle 13">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16" name="Rectangle 15">
            <a:extLst>
              <a:ext uri="{FF2B5EF4-FFF2-40B4-BE49-F238E27FC236}">
                <a16:creationId xmlns:a16="http://schemas.microsoft.com/office/drawing/2014/main" id="{E192707B-B929-41A7-9B41-E959A1C68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5FE244E-8680-4649-8D6D-BB6B77DCC6B7}"/>
              </a:ext>
            </a:extLst>
          </p:cNvPr>
          <p:cNvPicPr>
            <a:picLocks noGrp="1" noChangeAspect="1"/>
          </p:cNvPicPr>
          <p:nvPr>
            <p:ph sz="half" idx="2"/>
          </p:nvPr>
        </p:nvPicPr>
        <p:blipFill rotWithShape="1">
          <a:blip r:embed="rId2">
            <a:alphaModFix amt="35000"/>
          </a:blip>
          <a:srcRect l="7710" r="19846"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83D1DBFE-FB62-4F1F-AEAF-CA0C97CF60DE}"/>
              </a:ext>
            </a:extLst>
          </p:cNvPr>
          <p:cNvSpPr>
            <a:spLocks noGrp="1"/>
          </p:cNvSpPr>
          <p:nvPr>
            <p:ph type="title"/>
          </p:nvPr>
        </p:nvSpPr>
        <p:spPr>
          <a:xfrm>
            <a:off x="1066800" y="642594"/>
            <a:ext cx="10058400" cy="1371600"/>
          </a:xfrm>
        </p:spPr>
        <p:txBody>
          <a:bodyPr vert="horz" lIns="91440" tIns="45720" rIns="91440" bIns="45720" rtlCol="0" anchor="ctr">
            <a:normAutofit/>
          </a:bodyPr>
          <a:lstStyle/>
          <a:p>
            <a:r>
              <a:rPr lang="en-US" sz="4800" dirty="0"/>
              <a:t>Humans Benefit As Well</a:t>
            </a:r>
          </a:p>
        </p:txBody>
      </p:sp>
      <p:sp>
        <p:nvSpPr>
          <p:cNvPr id="3" name="Content Placeholder 2">
            <a:extLst>
              <a:ext uri="{FF2B5EF4-FFF2-40B4-BE49-F238E27FC236}">
                <a16:creationId xmlns:a16="http://schemas.microsoft.com/office/drawing/2014/main" id="{F022E0C2-2ADF-49CD-BA6D-65F078F7C6F8}"/>
              </a:ext>
            </a:extLst>
          </p:cNvPr>
          <p:cNvSpPr>
            <a:spLocks noGrp="1"/>
          </p:cNvSpPr>
          <p:nvPr>
            <p:ph sz="half" idx="1"/>
          </p:nvPr>
        </p:nvSpPr>
        <p:spPr>
          <a:xfrm>
            <a:off x="1066800" y="2103120"/>
            <a:ext cx="10058400" cy="3849624"/>
          </a:xfrm>
        </p:spPr>
        <p:txBody>
          <a:bodyPr vert="horz" lIns="91440" tIns="45720" rIns="91440" bIns="45720" rtlCol="0">
            <a:normAutofit lnSpcReduction="10000"/>
          </a:bodyPr>
          <a:lstStyle/>
          <a:p>
            <a:pPr>
              <a:lnSpc>
                <a:spcPct val="100000"/>
              </a:lnSpc>
            </a:pPr>
            <a:r>
              <a:rPr lang="en-US" dirty="0"/>
              <a:t>In California, 100,000 to 170,000 wet tons of kelp are harvested each year. Commercial harvesting in California is highly regulated to protect our kelp forests from improper or over harvesting. In addition to possessing a license, harvesters must trim kelp from the top, may not go more than four feet (1.2 m) below the surface of the water and may only collect in designated areas.</a:t>
            </a:r>
          </a:p>
          <a:p>
            <a:pPr>
              <a:lnSpc>
                <a:spcPct val="100000"/>
              </a:lnSpc>
            </a:pPr>
            <a:r>
              <a:rPr lang="en-US" dirty="0"/>
              <a:t>Giant kelp is harvested as a source of algin, an emulsifying and binding agent used in the production of many foods and cosmetics, like ice cream, cereal and toothpaste. Many of which are processed or made by our very own companies  here in California.</a:t>
            </a:r>
          </a:p>
          <a:p>
            <a:pPr>
              <a:lnSpc>
                <a:spcPct val="100000"/>
              </a:lnSpc>
            </a:pPr>
            <a:endParaRPr lang="en-US" dirty="0"/>
          </a:p>
          <a:p>
            <a:pPr>
              <a:lnSpc>
                <a:spcPct val="100000"/>
              </a:lnSpc>
            </a:pPr>
            <a:r>
              <a:rPr lang="en-US" dirty="0"/>
              <a:t>Kelp is harvested for use in aquaculture and can be found in many food products. Due to it’s fast growth rate, kelp is often viewed as a sustaining resource. Factors such as climate change, pollution, habitat degradation, boating and kelp harvesting can play a role in the health of a kelp forest.</a:t>
            </a:r>
          </a:p>
        </p:txBody>
      </p:sp>
      <p:sp>
        <p:nvSpPr>
          <p:cNvPr id="18" name="Rectangle 17">
            <a:extLst>
              <a:ext uri="{FF2B5EF4-FFF2-40B4-BE49-F238E27FC236}">
                <a16:creationId xmlns:a16="http://schemas.microsoft.com/office/drawing/2014/main" id="{8FB4235C-4505-46C7-AD8F-8769A1972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noFill/>
          <a:ln w="6350" cap="sq" cmpd="sng" algn="ctr">
            <a:solidFill>
              <a:schemeClr val="tx1"/>
            </a:solidFill>
            <a:prstDash val="solid"/>
            <a:miter lim="800000"/>
          </a:ln>
          <a:effectLst>
            <a:softEdge rad="0"/>
          </a:effectLst>
        </p:spPr>
      </p:sp>
    </p:spTree>
    <p:extLst>
      <p:ext uri="{BB962C8B-B14F-4D97-AF65-F5344CB8AC3E}">
        <p14:creationId xmlns:p14="http://schemas.microsoft.com/office/powerpoint/2010/main" val="49426863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4" name="Rectangle 13">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16" name="Rectangle 15">
            <a:extLst>
              <a:ext uri="{FF2B5EF4-FFF2-40B4-BE49-F238E27FC236}">
                <a16:creationId xmlns:a16="http://schemas.microsoft.com/office/drawing/2014/main" id="{E192707B-B929-41A7-9B41-E959A1C68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67AF616-584C-40CA-9ED8-16858EF748B5}"/>
              </a:ext>
            </a:extLst>
          </p:cNvPr>
          <p:cNvPicPr>
            <a:picLocks noGrp="1" noChangeAspect="1"/>
          </p:cNvPicPr>
          <p:nvPr>
            <p:ph sz="half" idx="2"/>
          </p:nvPr>
        </p:nvPicPr>
        <p:blipFill rotWithShape="1">
          <a:blip r:embed="rId2">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5BE36E1-A712-4F0E-9B0C-77260D6A81C6}"/>
              </a:ext>
            </a:extLst>
          </p:cNvPr>
          <p:cNvSpPr>
            <a:spLocks noGrp="1"/>
          </p:cNvSpPr>
          <p:nvPr>
            <p:ph type="title"/>
          </p:nvPr>
        </p:nvSpPr>
        <p:spPr>
          <a:xfrm>
            <a:off x="1066800" y="642594"/>
            <a:ext cx="10058400" cy="1371600"/>
          </a:xfrm>
        </p:spPr>
        <p:txBody>
          <a:bodyPr vert="horz" lIns="91440" tIns="45720" rIns="91440" bIns="45720" rtlCol="0" anchor="ctr">
            <a:normAutofit/>
          </a:bodyPr>
          <a:lstStyle/>
          <a:p>
            <a:r>
              <a:rPr lang="en-US" sz="4800"/>
              <a:t>All things with Moderation</a:t>
            </a:r>
          </a:p>
        </p:txBody>
      </p:sp>
      <p:sp>
        <p:nvSpPr>
          <p:cNvPr id="3" name="Content Placeholder 2">
            <a:extLst>
              <a:ext uri="{FF2B5EF4-FFF2-40B4-BE49-F238E27FC236}">
                <a16:creationId xmlns:a16="http://schemas.microsoft.com/office/drawing/2014/main" id="{F223B000-6B33-4517-86D9-48DB8CE7CAAB}"/>
              </a:ext>
            </a:extLst>
          </p:cNvPr>
          <p:cNvSpPr>
            <a:spLocks noGrp="1"/>
          </p:cNvSpPr>
          <p:nvPr>
            <p:ph sz="half" idx="1"/>
          </p:nvPr>
        </p:nvSpPr>
        <p:spPr>
          <a:xfrm>
            <a:off x="1066800" y="2103120"/>
            <a:ext cx="10058400" cy="3849624"/>
          </a:xfrm>
        </p:spPr>
        <p:txBody>
          <a:bodyPr vert="horz" lIns="91440" tIns="45720" rIns="91440" bIns="45720" rtlCol="0">
            <a:normAutofit/>
          </a:bodyPr>
          <a:lstStyle/>
          <a:p>
            <a:pPr>
              <a:lnSpc>
                <a:spcPct val="100000"/>
              </a:lnSpc>
            </a:pPr>
            <a:r>
              <a:rPr lang="en-US" dirty="0"/>
              <a:t>Commercial kelp harvesting is potentially the greatest threat to long-term kelp stability. It has supported a multitude of industries over the past century. From the extractions of kelp during World War I for potash to the modern use of kelp for food additives and pharmaceutical products, kelp has proven to be a dynamic and highly demanded product.</a:t>
            </a:r>
          </a:p>
          <a:p>
            <a:pPr>
              <a:lnSpc>
                <a:spcPct val="100000"/>
              </a:lnSpc>
            </a:pPr>
            <a:r>
              <a:rPr lang="en-US" dirty="0"/>
              <a:t>For all it’s uses some products still won't see the light of day but more often then not it has been proven very useful.</a:t>
            </a:r>
          </a:p>
          <a:p>
            <a:pPr>
              <a:lnSpc>
                <a:spcPct val="100000"/>
              </a:lnSpc>
            </a:pPr>
            <a:r>
              <a:rPr lang="en-US" dirty="0"/>
              <a:t>By most accounts, because of its spectacular growth rates, kelp recovers quickly from physical disturbances such as storms that might uproot the fragile plants. However, as in all natural environments, the health is proportional to the number of adverse conditions to which it is exposed.</a:t>
            </a:r>
          </a:p>
        </p:txBody>
      </p:sp>
      <p:sp>
        <p:nvSpPr>
          <p:cNvPr id="18" name="Rectangle 17">
            <a:extLst>
              <a:ext uri="{FF2B5EF4-FFF2-40B4-BE49-F238E27FC236}">
                <a16:creationId xmlns:a16="http://schemas.microsoft.com/office/drawing/2014/main" id="{8FB4235C-4505-46C7-AD8F-8769A1972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noFill/>
          <a:ln w="6350" cap="sq" cmpd="sng" algn="ctr">
            <a:solidFill>
              <a:schemeClr val="tx1"/>
            </a:solidFill>
            <a:prstDash val="solid"/>
            <a:miter lim="800000"/>
          </a:ln>
          <a:effectLst>
            <a:softEdge rad="0"/>
          </a:effectLst>
        </p:spPr>
      </p:sp>
    </p:spTree>
    <p:extLst>
      <p:ext uri="{BB962C8B-B14F-4D97-AF65-F5344CB8AC3E}">
        <p14:creationId xmlns:p14="http://schemas.microsoft.com/office/powerpoint/2010/main" val="2567382418"/>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E6D2-03AB-4551-82B7-DD6DD2E64DB2}"/>
              </a:ext>
            </a:extLst>
          </p:cNvPr>
          <p:cNvSpPr>
            <a:spLocks noGrp="1"/>
          </p:cNvSpPr>
          <p:nvPr>
            <p:ph type="title"/>
          </p:nvPr>
        </p:nvSpPr>
        <p:spPr/>
        <p:txBody>
          <a:bodyPr/>
          <a:lstStyle/>
          <a:p>
            <a:r>
              <a:rPr lang="en-US" dirty="0"/>
              <a:t> A Brief History of the Help From Kelp.</a:t>
            </a:r>
          </a:p>
        </p:txBody>
      </p:sp>
      <p:sp>
        <p:nvSpPr>
          <p:cNvPr id="3" name="Content Placeholder 2">
            <a:extLst>
              <a:ext uri="{FF2B5EF4-FFF2-40B4-BE49-F238E27FC236}">
                <a16:creationId xmlns:a16="http://schemas.microsoft.com/office/drawing/2014/main" id="{D8920595-B891-44EF-A34F-3FAAE92337B4}"/>
              </a:ext>
            </a:extLst>
          </p:cNvPr>
          <p:cNvSpPr>
            <a:spLocks noGrp="1"/>
          </p:cNvSpPr>
          <p:nvPr>
            <p:ph sz="half" idx="1"/>
          </p:nvPr>
        </p:nvSpPr>
        <p:spPr/>
        <p:txBody>
          <a:bodyPr>
            <a:normAutofit fontScale="92500" lnSpcReduction="10000"/>
          </a:bodyPr>
          <a:lstStyle/>
          <a:p>
            <a:r>
              <a:rPr lang="en-US" dirty="0"/>
              <a:t>Kelp harvesting during World War I peaked in 1919 when 400,000 wet tons were used to make potash for gunpowder and fertilizer. </a:t>
            </a:r>
          </a:p>
          <a:p>
            <a:r>
              <a:rPr lang="en-US" dirty="0"/>
              <a:t>In the 1930s the food, pharmaceutical, and scientific communities began extracting algin, a thickening, stabilizing, suspending, and gelling agent.</a:t>
            </a:r>
          </a:p>
          <a:p>
            <a:r>
              <a:rPr lang="en-US" dirty="0"/>
              <a:t> In the 1980's alone, kelp harvesting supported an industry worth more than $40 million a year, and in 1993, more than 4,700 wet tons of kelp were extracted from the Monterey Bay National Marine Sanctuary.</a:t>
            </a:r>
          </a:p>
        </p:txBody>
      </p:sp>
      <p:sp>
        <p:nvSpPr>
          <p:cNvPr id="4" name="Content Placeholder 3">
            <a:extLst>
              <a:ext uri="{FF2B5EF4-FFF2-40B4-BE49-F238E27FC236}">
                <a16:creationId xmlns:a16="http://schemas.microsoft.com/office/drawing/2014/main" id="{304617D9-E799-4DAB-8D6E-4A55B4C8169D}"/>
              </a:ext>
            </a:extLst>
          </p:cNvPr>
          <p:cNvSpPr>
            <a:spLocks noGrp="1"/>
          </p:cNvSpPr>
          <p:nvPr>
            <p:ph sz="half" idx="2"/>
          </p:nvPr>
        </p:nvSpPr>
        <p:spPr/>
        <p:txBody>
          <a:bodyPr>
            <a:normAutofit fontScale="92500" lnSpcReduction="10000"/>
          </a:bodyPr>
          <a:lstStyle/>
          <a:p>
            <a:r>
              <a:rPr lang="en-US" dirty="0"/>
              <a:t>Algin is an additive used in a wide variety of dairy products, frozen foods, cakes, puddings, salad dressings, shampoos, and toothpastes. It smooths and thickens ice cream, emulsifies salad dressing, and keeps pigments uniformly mixed in paints and cosmetics</a:t>
            </a:r>
          </a:p>
          <a:p>
            <a:r>
              <a:rPr lang="en-US" dirty="0"/>
              <a:t>. Additionally, some mariculture farms hand-harvest kelp to feed abalone. </a:t>
            </a:r>
          </a:p>
        </p:txBody>
      </p:sp>
    </p:spTree>
    <p:extLst>
      <p:ext uri="{BB962C8B-B14F-4D97-AF65-F5344CB8AC3E}">
        <p14:creationId xmlns:p14="http://schemas.microsoft.com/office/powerpoint/2010/main" val="3782371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26">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28">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41" name="Rectangle 30">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42" name="Rectangle 32">
            <a:extLst>
              <a:ext uri="{FF2B5EF4-FFF2-40B4-BE49-F238E27FC236}">
                <a16:creationId xmlns:a16="http://schemas.microsoft.com/office/drawing/2014/main" id="{352B744B-0F81-487E-A851-51A3233F0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4">
            <a:extLst>
              <a:ext uri="{FF2B5EF4-FFF2-40B4-BE49-F238E27FC236}">
                <a16:creationId xmlns:a16="http://schemas.microsoft.com/office/drawing/2014/main" id="{4D6D39BE-B8E2-4FCD-92BE-1E88F5973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Rectangle 36">
            <a:extLst>
              <a:ext uri="{FF2B5EF4-FFF2-40B4-BE49-F238E27FC236}">
                <a16:creationId xmlns:a16="http://schemas.microsoft.com/office/drawing/2014/main" id="{C13A2EBD-9403-4884-A9BD-8B154778C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1">
            <a:extLst>
              <a:ext uri="{FF2B5EF4-FFF2-40B4-BE49-F238E27FC236}">
                <a16:creationId xmlns:a16="http://schemas.microsoft.com/office/drawing/2014/main" id="{3B16467D-434F-41EE-82EF-624D8CEE1B16}"/>
              </a:ext>
            </a:extLst>
          </p:cNvPr>
          <p:cNvSpPr>
            <a:spLocks noGrp="1"/>
          </p:cNvSpPr>
          <p:nvPr>
            <p:ph type="title"/>
          </p:nvPr>
        </p:nvSpPr>
        <p:spPr>
          <a:xfrm>
            <a:off x="1066800" y="642594"/>
            <a:ext cx="10058400" cy="1371600"/>
          </a:xfrm>
        </p:spPr>
        <p:txBody>
          <a:bodyPr vert="horz" lIns="91440" tIns="45720" rIns="91440" bIns="45720" rtlCol="0" anchor="ctr">
            <a:normAutofit/>
          </a:bodyPr>
          <a:lstStyle/>
          <a:p>
            <a:r>
              <a:rPr lang="en-US" sz="4400" dirty="0"/>
              <a:t>The Friend We Didn’t Know We Had.</a:t>
            </a:r>
          </a:p>
        </p:txBody>
      </p:sp>
      <p:pic>
        <p:nvPicPr>
          <p:cNvPr id="5" name="Content Placeholder 4">
            <a:extLst>
              <a:ext uri="{FF2B5EF4-FFF2-40B4-BE49-F238E27FC236}">
                <a16:creationId xmlns:a16="http://schemas.microsoft.com/office/drawing/2014/main" id="{19503933-AA6E-4F24-B0C8-24A5E49B0896}"/>
              </a:ext>
            </a:extLst>
          </p:cNvPr>
          <p:cNvPicPr>
            <a:picLocks noGrp="1" noChangeAspect="1"/>
          </p:cNvPicPr>
          <p:nvPr>
            <p:ph sz="half" idx="2"/>
          </p:nvPr>
        </p:nvPicPr>
        <p:blipFill>
          <a:blip r:embed="rId2"/>
          <a:stretch>
            <a:fillRect/>
          </a:stretch>
        </p:blipFill>
        <p:spPr>
          <a:xfrm>
            <a:off x="1154352" y="2982698"/>
            <a:ext cx="3019646" cy="1990221"/>
          </a:xfrm>
          <a:prstGeom prst="rect">
            <a:avLst/>
          </a:prstGeom>
        </p:spPr>
      </p:pic>
      <p:sp>
        <p:nvSpPr>
          <p:cNvPr id="3" name="Content Placeholder 2">
            <a:extLst>
              <a:ext uri="{FF2B5EF4-FFF2-40B4-BE49-F238E27FC236}">
                <a16:creationId xmlns:a16="http://schemas.microsoft.com/office/drawing/2014/main" id="{09032FDF-8301-4C97-9556-3469D6D60360}"/>
              </a:ext>
            </a:extLst>
          </p:cNvPr>
          <p:cNvSpPr>
            <a:spLocks noGrp="1"/>
          </p:cNvSpPr>
          <p:nvPr>
            <p:ph sz="half" idx="1"/>
          </p:nvPr>
        </p:nvSpPr>
        <p:spPr>
          <a:xfrm>
            <a:off x="4637165" y="2103120"/>
            <a:ext cx="6488035" cy="3931920"/>
          </a:xfrm>
        </p:spPr>
        <p:txBody>
          <a:bodyPr vert="horz" lIns="91440" tIns="45720" rIns="91440" bIns="45720" rtlCol="0">
            <a:normAutofit/>
          </a:bodyPr>
          <a:lstStyle/>
          <a:p>
            <a:pPr>
              <a:lnSpc>
                <a:spcPct val="100000"/>
              </a:lnSpc>
            </a:pPr>
            <a:r>
              <a:rPr lang="en-US"/>
              <a:t>Pieces of decomposing kelp (known as detritus) sink to the depths of the ocean, providing food for deep-sea creatures. (Or even Mustaches) </a:t>
            </a:r>
          </a:p>
          <a:p>
            <a:pPr>
              <a:lnSpc>
                <a:spcPct val="100000"/>
              </a:lnSpc>
            </a:pPr>
            <a:r>
              <a:rPr lang="en-US"/>
              <a:t>The pieces that don’t float away and get eaten help it propagate and supply not only homes, but ecosystems for Mammals and Mollusk alike.</a:t>
            </a:r>
          </a:p>
          <a:p>
            <a:pPr>
              <a:lnSpc>
                <a:spcPct val="100000"/>
              </a:lnSpc>
            </a:pPr>
            <a:r>
              <a:rPr lang="en-US"/>
              <a:t>In our food and our face creams as well as the very waters we surf in Kelp has been the most helpful Protist that doesn’t get enough credit. </a:t>
            </a:r>
          </a:p>
        </p:txBody>
      </p:sp>
    </p:spTree>
    <p:extLst>
      <p:ext uri="{BB962C8B-B14F-4D97-AF65-F5344CB8AC3E}">
        <p14:creationId xmlns:p14="http://schemas.microsoft.com/office/powerpoint/2010/main" val="3605470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7" name="Rectangle 16">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19" name="Rectangle 18">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534" y="237744"/>
            <a:ext cx="2926080" cy="6382512"/>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9100"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34B062-F29F-4621-87B1-3872508577B2}"/>
              </a:ext>
            </a:extLst>
          </p:cNvPr>
          <p:cNvSpPr>
            <a:spLocks noGrp="1"/>
          </p:cNvSpPr>
          <p:nvPr>
            <p:ph type="title"/>
          </p:nvPr>
        </p:nvSpPr>
        <p:spPr>
          <a:xfrm>
            <a:off x="557720" y="612843"/>
            <a:ext cx="2312480" cy="1499738"/>
          </a:xfrm>
        </p:spPr>
        <p:txBody>
          <a:bodyPr vert="horz" lIns="91440" tIns="45720" rIns="91440" bIns="45720" rtlCol="0" anchor="b">
            <a:normAutofit/>
          </a:bodyPr>
          <a:lstStyle/>
          <a:p>
            <a:r>
              <a:rPr lang="en-US" sz="2800"/>
              <a:t>How can we Help Kelp?</a:t>
            </a:r>
          </a:p>
        </p:txBody>
      </p:sp>
      <p:sp>
        <p:nvSpPr>
          <p:cNvPr id="3" name="Content Placeholder 2">
            <a:extLst>
              <a:ext uri="{FF2B5EF4-FFF2-40B4-BE49-F238E27FC236}">
                <a16:creationId xmlns:a16="http://schemas.microsoft.com/office/drawing/2014/main" id="{CBB0D5FD-2360-4D2B-B9CD-AA791208C8AA}"/>
              </a:ext>
            </a:extLst>
          </p:cNvPr>
          <p:cNvSpPr>
            <a:spLocks noGrp="1"/>
          </p:cNvSpPr>
          <p:nvPr>
            <p:ph sz="half" idx="1"/>
          </p:nvPr>
        </p:nvSpPr>
        <p:spPr>
          <a:xfrm>
            <a:off x="557720" y="2149813"/>
            <a:ext cx="2312479" cy="3854197"/>
          </a:xfrm>
        </p:spPr>
        <p:txBody>
          <a:bodyPr vert="horz" lIns="91440" tIns="45720" rIns="91440" bIns="45720" rtlCol="0">
            <a:normAutofit/>
          </a:bodyPr>
          <a:lstStyle/>
          <a:p>
            <a:pPr>
              <a:lnSpc>
                <a:spcPct val="90000"/>
              </a:lnSpc>
            </a:pPr>
            <a:r>
              <a:rPr lang="en-US" sz="1400">
                <a:solidFill>
                  <a:schemeClr val="tx1">
                    <a:lumMod val="85000"/>
                    <a:lumOff val="15000"/>
                  </a:schemeClr>
                </a:solidFill>
              </a:rPr>
              <a:t> As in all ecosystems, a balance exists in this complex environment, and the predators such as sea otters generally contain sea urchins or grazing fishes enough to limit the damage by grazing. This balance of power is usurped when the predatory populations go into decline, as exemplified by the huge explosion of sea urchins when otter populations suffer from oil spills or disease.</a:t>
            </a:r>
          </a:p>
        </p:txBody>
      </p:sp>
      <p:sp>
        <p:nvSpPr>
          <p:cNvPr id="25" name="Rectangle 24">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9764" y="413053"/>
            <a:ext cx="8212114" cy="6064596"/>
          </a:xfrm>
          <a:prstGeom prst="rect">
            <a:avLst/>
          </a:prstGeom>
          <a:noFill/>
          <a:ln w="6350" cap="sq" cmpd="sng" algn="ctr">
            <a:solidFill>
              <a:srgbClr val="404040"/>
            </a:solidFill>
            <a:prstDash val="solid"/>
            <a:miter lim="800000"/>
          </a:ln>
          <a:effectLst/>
        </p:spPr>
      </p:sp>
      <p:pic>
        <p:nvPicPr>
          <p:cNvPr id="8" name="Content Placeholder 7">
            <a:extLst>
              <a:ext uri="{FF2B5EF4-FFF2-40B4-BE49-F238E27FC236}">
                <a16:creationId xmlns:a16="http://schemas.microsoft.com/office/drawing/2014/main" id="{6EB14B75-F0D0-44FD-8DFE-7D7D6D0A620F}"/>
              </a:ext>
            </a:extLst>
          </p:cNvPr>
          <p:cNvPicPr>
            <a:picLocks noGrp="1" noChangeAspect="1"/>
          </p:cNvPicPr>
          <p:nvPr>
            <p:ph sz="half" idx="2"/>
          </p:nvPr>
        </p:nvPicPr>
        <p:blipFill>
          <a:blip r:embed="rId2"/>
          <a:stretch>
            <a:fillRect/>
          </a:stretch>
        </p:blipFill>
        <p:spPr>
          <a:xfrm>
            <a:off x="4253952" y="882398"/>
            <a:ext cx="6828816" cy="5121612"/>
          </a:xfrm>
          <a:prstGeom prst="rect">
            <a:avLst/>
          </a:prstGeom>
        </p:spPr>
      </p:pic>
    </p:spTree>
    <p:extLst>
      <p:ext uri="{BB962C8B-B14F-4D97-AF65-F5344CB8AC3E}">
        <p14:creationId xmlns:p14="http://schemas.microsoft.com/office/powerpoint/2010/main" val="384192038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C130-EB3B-4C4D-AB5E-CDC74654041D}"/>
              </a:ext>
            </a:extLst>
          </p:cNvPr>
          <p:cNvSpPr>
            <a:spLocks noGrp="1"/>
          </p:cNvSpPr>
          <p:nvPr>
            <p:ph type="title"/>
          </p:nvPr>
        </p:nvSpPr>
        <p:spPr/>
        <p:txBody>
          <a:bodyPr/>
          <a:lstStyle/>
          <a:p>
            <a:r>
              <a:rPr lang="en-US" dirty="0"/>
              <a:t>Minding Our Messes</a:t>
            </a:r>
          </a:p>
        </p:txBody>
      </p:sp>
      <p:graphicFrame>
        <p:nvGraphicFramePr>
          <p:cNvPr id="7" name="Content Placeholder 2">
            <a:extLst>
              <a:ext uri="{FF2B5EF4-FFF2-40B4-BE49-F238E27FC236}">
                <a16:creationId xmlns:a16="http://schemas.microsoft.com/office/drawing/2014/main" id="{97F5D1D6-558D-47F7-B0D8-39B90C6CD4D6}"/>
              </a:ext>
            </a:extLst>
          </p:cNvPr>
          <p:cNvGraphicFramePr>
            <a:graphicFrameLocks noGrp="1"/>
          </p:cNvGraphicFramePr>
          <p:nvPr>
            <p:ph sz="half" idx="1"/>
          </p:nvPr>
        </p:nvGraphicFramePr>
        <p:xfrm>
          <a:off x="1066800" y="2103120"/>
          <a:ext cx="4663440" cy="3749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4">
            <a:extLst>
              <a:ext uri="{FF2B5EF4-FFF2-40B4-BE49-F238E27FC236}">
                <a16:creationId xmlns:a16="http://schemas.microsoft.com/office/drawing/2014/main" id="{48CF791C-7E4C-41AF-88D8-8EF88D6D59B5}"/>
              </a:ext>
            </a:extLst>
          </p:cNvPr>
          <p:cNvPicPr>
            <a:picLocks noGrp="1" noChangeAspect="1"/>
          </p:cNvPicPr>
          <p:nvPr>
            <p:ph sz="half" idx="2"/>
          </p:nvPr>
        </p:nvPicPr>
        <p:blipFill>
          <a:blip r:embed="rId7"/>
          <a:stretch>
            <a:fillRect/>
          </a:stretch>
        </p:blipFill>
        <p:spPr>
          <a:xfrm>
            <a:off x="6177280" y="2255520"/>
            <a:ext cx="5140960" cy="3525520"/>
          </a:xfrm>
          <a:prstGeom prst="rect">
            <a:avLst/>
          </a:prstGeom>
        </p:spPr>
      </p:pic>
    </p:spTree>
    <p:extLst>
      <p:ext uri="{BB962C8B-B14F-4D97-AF65-F5344CB8AC3E}">
        <p14:creationId xmlns:p14="http://schemas.microsoft.com/office/powerpoint/2010/main" val="1278093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3AF53-CC3E-4209-B995-0524D14DA16A}"/>
              </a:ext>
            </a:extLst>
          </p:cNvPr>
          <p:cNvSpPr>
            <a:spLocks noGrp="1"/>
          </p:cNvSpPr>
          <p:nvPr>
            <p:ph type="title"/>
          </p:nvPr>
        </p:nvSpPr>
        <p:spPr/>
        <p:txBody>
          <a:bodyPr/>
          <a:lstStyle/>
          <a:p>
            <a:r>
              <a:rPr lang="en-US" dirty="0"/>
              <a:t>The Hard Truth</a:t>
            </a:r>
          </a:p>
        </p:txBody>
      </p:sp>
      <p:sp>
        <p:nvSpPr>
          <p:cNvPr id="3" name="Content Placeholder 2">
            <a:extLst>
              <a:ext uri="{FF2B5EF4-FFF2-40B4-BE49-F238E27FC236}">
                <a16:creationId xmlns:a16="http://schemas.microsoft.com/office/drawing/2014/main" id="{9A6170A0-7615-4A02-ACEF-000C03C7CDEB}"/>
              </a:ext>
            </a:extLst>
          </p:cNvPr>
          <p:cNvSpPr>
            <a:spLocks noGrp="1"/>
          </p:cNvSpPr>
          <p:nvPr>
            <p:ph sz="half" idx="1"/>
          </p:nvPr>
        </p:nvSpPr>
        <p:spPr/>
        <p:txBody>
          <a:bodyPr>
            <a:normAutofit fontScale="92500" lnSpcReduction="10000"/>
          </a:bodyPr>
          <a:lstStyle/>
          <a:p>
            <a:r>
              <a:rPr lang="en-US" dirty="0"/>
              <a:t>Today, our kelp forests are in serious trouble. Though annually variable, in the past five years, California’s kelp forests have decreased by 93% of normal. Higher sea surface temperatures in recent years have limited kelp growth, and sea star wasting disease has removed a key predator of purple sea urchins, a veracious eater of kelp. Though our waters have cooled this past year, the explosion of the purple urchin population—60 times higher than normal—and has prevented the kelp forests from recovering from these multiple blows.</a:t>
            </a:r>
          </a:p>
        </p:txBody>
      </p:sp>
      <p:sp>
        <p:nvSpPr>
          <p:cNvPr id="4" name="Content Placeholder 3">
            <a:extLst>
              <a:ext uri="{FF2B5EF4-FFF2-40B4-BE49-F238E27FC236}">
                <a16:creationId xmlns:a16="http://schemas.microsoft.com/office/drawing/2014/main" id="{18CF6131-EF43-4672-BDD4-BF304139A086}"/>
              </a:ext>
            </a:extLst>
          </p:cNvPr>
          <p:cNvSpPr>
            <a:spLocks noGrp="1"/>
          </p:cNvSpPr>
          <p:nvPr>
            <p:ph sz="half" idx="2"/>
          </p:nvPr>
        </p:nvSpPr>
        <p:spPr/>
        <p:txBody>
          <a:bodyPr>
            <a:normAutofit fontScale="92500" lnSpcReduction="10000"/>
          </a:bodyPr>
          <a:lstStyle/>
          <a:p>
            <a:r>
              <a:rPr lang="en-US" dirty="0"/>
              <a:t>The effects of the kelp forest loss reach from the ocean to the shore. The red abalone fishery, severely impacted by a lack of food, has been closed this year.  Fewer fish has meant that shore birds do not have enough food for their chicks. This year, 90% of the local cormorant and 80% of the black oystercatcher nestlings failed to survive. Fewer young fish also means fewer larger fish for marine mammals, such as harbor seals and sea lions.</a:t>
            </a:r>
          </a:p>
        </p:txBody>
      </p:sp>
    </p:spTree>
    <p:extLst>
      <p:ext uri="{BB962C8B-B14F-4D97-AF65-F5344CB8AC3E}">
        <p14:creationId xmlns:p14="http://schemas.microsoft.com/office/powerpoint/2010/main" val="1445501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9">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1">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24" name="Rectangle 13">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1">
            <a:extLst>
              <a:ext uri="{FF2B5EF4-FFF2-40B4-BE49-F238E27FC236}">
                <a16:creationId xmlns:a16="http://schemas.microsoft.com/office/drawing/2014/main" id="{5E7F9B6D-7B5A-47A6-8639-64774B6818A4}"/>
              </a:ext>
            </a:extLst>
          </p:cNvPr>
          <p:cNvSpPr>
            <a:spLocks noGrp="1"/>
          </p:cNvSpPr>
          <p:nvPr>
            <p:ph type="title"/>
          </p:nvPr>
        </p:nvSpPr>
        <p:spPr>
          <a:xfrm>
            <a:off x="6579450" y="727627"/>
            <a:ext cx="4957553" cy="1645920"/>
          </a:xfrm>
        </p:spPr>
        <p:txBody>
          <a:bodyPr vert="horz" lIns="91440" tIns="45720" rIns="91440" bIns="45720" rtlCol="0" anchor="ctr">
            <a:normAutofit/>
          </a:bodyPr>
          <a:lstStyle/>
          <a:p>
            <a:r>
              <a:rPr lang="en-US" sz="4800"/>
              <a:t>Learn How To Help</a:t>
            </a:r>
          </a:p>
        </p:txBody>
      </p:sp>
      <p:sp>
        <p:nvSpPr>
          <p:cNvPr id="25" name="Rectangle 15">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26" name="Rectangle 17">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5" name="Content Placeholder 4">
            <a:extLst>
              <a:ext uri="{FF2B5EF4-FFF2-40B4-BE49-F238E27FC236}">
                <a16:creationId xmlns:a16="http://schemas.microsoft.com/office/drawing/2014/main" id="{DF18BA3D-1031-4306-B920-9430DE8701B2}"/>
              </a:ext>
            </a:extLst>
          </p:cNvPr>
          <p:cNvPicPr>
            <a:picLocks noGrp="1" noChangeAspect="1"/>
          </p:cNvPicPr>
          <p:nvPr>
            <p:ph sz="half" idx="2"/>
          </p:nvPr>
        </p:nvPicPr>
        <p:blipFill>
          <a:blip r:embed="rId2"/>
          <a:stretch>
            <a:fillRect/>
          </a:stretch>
        </p:blipFill>
        <p:spPr>
          <a:xfrm>
            <a:off x="1205256" y="2194014"/>
            <a:ext cx="4414438" cy="2488137"/>
          </a:xfrm>
          <a:prstGeom prst="rect">
            <a:avLst/>
          </a:prstGeom>
        </p:spPr>
      </p:pic>
      <p:sp>
        <p:nvSpPr>
          <p:cNvPr id="3" name="Content Placeholder 2">
            <a:extLst>
              <a:ext uri="{FF2B5EF4-FFF2-40B4-BE49-F238E27FC236}">
                <a16:creationId xmlns:a16="http://schemas.microsoft.com/office/drawing/2014/main" id="{43A7F39F-674C-498E-98C4-EF48094C7503}"/>
              </a:ext>
            </a:extLst>
          </p:cNvPr>
          <p:cNvSpPr>
            <a:spLocks noGrp="1"/>
          </p:cNvSpPr>
          <p:nvPr>
            <p:ph sz="half" idx="1"/>
          </p:nvPr>
        </p:nvSpPr>
        <p:spPr>
          <a:xfrm>
            <a:off x="6579450" y="2538919"/>
            <a:ext cx="4957554" cy="3496120"/>
          </a:xfrm>
        </p:spPr>
        <p:txBody>
          <a:bodyPr vert="horz" lIns="91440" tIns="45720" rIns="91440" bIns="45720" rtlCol="0">
            <a:normAutofit/>
          </a:bodyPr>
          <a:lstStyle/>
          <a:p>
            <a:pPr>
              <a:lnSpc>
                <a:spcPct val="90000"/>
              </a:lnSpc>
            </a:pPr>
            <a:r>
              <a:rPr lang="en-US"/>
              <a:t>We live in a coastal environment reliant on our local ocean resources, whether for our job, our dinner, our vacation, or our enjoyment. To turn this crisis around, we will need the support of everyone, whether as a dockside sampler of purple urchin coming in, as a donor of our effort, more eyes in the water,</a:t>
            </a:r>
          </a:p>
          <a:p>
            <a:pPr>
              <a:lnSpc>
                <a:spcPct val="90000"/>
              </a:lnSpc>
            </a:pPr>
            <a:r>
              <a:rPr lang="en-US"/>
              <a:t> Scientists will be working hard to identify the research needed to facilitate broad scale recovery and increase the resilience of  kelp forest ecosystems in the face of increasing climatic and ecological stressors.</a:t>
            </a:r>
          </a:p>
        </p:txBody>
      </p:sp>
    </p:spTree>
    <p:extLst>
      <p:ext uri="{BB962C8B-B14F-4D97-AF65-F5344CB8AC3E}">
        <p14:creationId xmlns:p14="http://schemas.microsoft.com/office/powerpoint/2010/main" val="2192461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75FBC4-9D33-46BE-911D-419763BA9AF9}">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294F055B-D391-44D3-A87A-BCD07BD5A31C}">
  <ds:schemaRefs>
    <ds:schemaRef ds:uri="http://schemas.microsoft.com/sharepoint/v3/contenttype/forms"/>
  </ds:schemaRefs>
</ds:datastoreItem>
</file>

<file path=customXml/itemProps3.xml><?xml version="1.0" encoding="utf-8"?>
<ds:datastoreItem xmlns:ds="http://schemas.openxmlformats.org/officeDocument/2006/customXml" ds:itemID="{26DBD101-FC0A-4B21-82B0-57CAA7AEEC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{C6BDBACC-67CB-41B6-A62F-5461DC60B576}tf56219246_win32</Template>
  <TotalTime>216</TotalTime>
  <Words>1815</Words>
  <Application>Microsoft Office PowerPoint</Application>
  <PresentationFormat>Widescreen</PresentationFormat>
  <Paragraphs>66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Avenir Next LT Pro</vt:lpstr>
      <vt:lpstr>Avenir Next LT Pro Light</vt:lpstr>
      <vt:lpstr>Garamond</vt:lpstr>
      <vt:lpstr>Times New Roman</vt:lpstr>
      <vt:lpstr>SavonVTI</vt:lpstr>
      <vt:lpstr>COASTAL KELP FOREST AND ENVIRONMENT</vt:lpstr>
      <vt:lpstr>Giant Kelp Macrocystis Pyrifera</vt:lpstr>
      <vt:lpstr>Structure</vt:lpstr>
      <vt:lpstr>Multicellular? Protist?</vt:lpstr>
      <vt:lpstr>Sexual Reproduction</vt:lpstr>
      <vt:lpstr>Their Own Forest Under Water.</vt:lpstr>
      <vt:lpstr>Giant Buffets</vt:lpstr>
      <vt:lpstr>Kelp is eaten by a lot of invertebrate species. (Invertebrates are animals without backbones.) Invertebrates that eat kelp include snails and shellfish such as crabs, sea urchins and abalone. These shellfish are themselves eaten by other creatures. Such as Cheeky Otters</vt:lpstr>
      <vt:lpstr>Whole Communities!</vt:lpstr>
      <vt:lpstr>Furry Friendly Guardian</vt:lpstr>
      <vt:lpstr>Hungry Horrors </vt:lpstr>
      <vt:lpstr>Humans Benefit As Well</vt:lpstr>
      <vt:lpstr>All things with Moderation</vt:lpstr>
      <vt:lpstr> A Brief History of the Help From Kelp.</vt:lpstr>
      <vt:lpstr>The Friend We Didn’t Know We Had.</vt:lpstr>
      <vt:lpstr>How can we Help Kelp?</vt:lpstr>
      <vt:lpstr>Minding Our Messes</vt:lpstr>
      <vt:lpstr>The Hard Truth</vt:lpstr>
      <vt:lpstr>Learn How To Help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COASTAL KELP FOREST AND ENVIRONMENT</dc:title>
  <dc:creator>Vincent Moreno</dc:creator>
  <cp:lastModifiedBy>Vincent Moreno</cp:lastModifiedBy>
  <cp:revision>19</cp:revision>
  <dcterms:created xsi:type="dcterms:W3CDTF">2021-06-22T03:16:27Z</dcterms:created>
  <dcterms:modified xsi:type="dcterms:W3CDTF">2021-06-22T06:52:51Z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